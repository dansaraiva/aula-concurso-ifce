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Poppins"/>
      <p:regular r:id="rId28"/>
      <p:bold r:id="rId29"/>
      <p:italic r:id="rId30"/>
      <p:boldItalic r:id="rId31"/>
    </p:embeddedFont>
    <p:embeddedFont>
      <p:font typeface="Poppins Light"/>
      <p:regular r:id="rId32"/>
      <p:bold r:id="rId33"/>
      <p:italic r:id="rId34"/>
      <p:boldItalic r:id="rId35"/>
    </p:embeddedFont>
    <p:embeddedFont>
      <p:font typeface="Poppins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oppins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6.xml"/><Relationship Id="rId33" Type="http://schemas.openxmlformats.org/officeDocument/2006/relationships/font" Target="fonts/PoppinsLight-bold.fntdata"/><Relationship Id="rId10" Type="http://schemas.openxmlformats.org/officeDocument/2006/relationships/slide" Target="slides/slide5.xml"/><Relationship Id="rId32" Type="http://schemas.openxmlformats.org/officeDocument/2006/relationships/font" Target="fonts/PoppinsLight-regular.fntdata"/><Relationship Id="rId13" Type="http://schemas.openxmlformats.org/officeDocument/2006/relationships/slide" Target="slides/slide8.xml"/><Relationship Id="rId35" Type="http://schemas.openxmlformats.org/officeDocument/2006/relationships/font" Target="fonts/PoppinsLight-boldItalic.fntdata"/><Relationship Id="rId12" Type="http://schemas.openxmlformats.org/officeDocument/2006/relationships/slide" Target="slides/slide7.xml"/><Relationship Id="rId34" Type="http://schemas.openxmlformats.org/officeDocument/2006/relationships/font" Target="fonts/PoppinsLight-italic.fntdata"/><Relationship Id="rId15" Type="http://schemas.openxmlformats.org/officeDocument/2006/relationships/slide" Target="slides/slide10.xml"/><Relationship Id="rId37" Type="http://schemas.openxmlformats.org/officeDocument/2006/relationships/font" Target="fonts/PoppinsSemiBold-bold.fntdata"/><Relationship Id="rId14" Type="http://schemas.openxmlformats.org/officeDocument/2006/relationships/slide" Target="slides/slide9.xml"/><Relationship Id="rId36" Type="http://schemas.openxmlformats.org/officeDocument/2006/relationships/font" Target="fonts/PoppinsSemiBold-regular.fntdata"/><Relationship Id="rId17" Type="http://schemas.openxmlformats.org/officeDocument/2006/relationships/slide" Target="slides/slide12.xml"/><Relationship Id="rId39" Type="http://schemas.openxmlformats.org/officeDocument/2006/relationships/font" Target="fonts/PoppinsSemi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PoppinsSemiBold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8627b68bc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8627b68b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8627b68bc_0_4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8627b68bc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8627b68bc_0_6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e8627b68bc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8627b68bc_0_8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e8627b68bc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8627b68bc_0_18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e8627b68bc_0_1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8627b68bc_0_2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e8627b68bc_0_2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e8627b68bc_0_24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e8627b68bc_0_2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e8627b68bc_0_26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e8627b68bc_0_2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e8627b68bc_0_3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e8627b68bc_0_3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e8627b68bc_0_35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e8627b68bc_0_3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e8627b68bc_0_12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e8627b68bc_0_1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862add363_6_0)">
  <p:cSld name="Generated (g3e862add363_6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9.png"/><Relationship Id="rId5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9.png"/><Relationship Id="rId4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9.png"/><Relationship Id="rId4" Type="http://schemas.openxmlformats.org/officeDocument/2006/relationships/image" Target="../media/image21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9.png"/><Relationship Id="rId4" Type="http://schemas.openxmlformats.org/officeDocument/2006/relationships/image" Target="../media/image23.png"/><Relationship Id="rId9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9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34.png"/><Relationship Id="rId7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3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9.png"/><Relationship Id="rId4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image" Target="../media/image36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Relationship Id="rId4" Type="http://schemas.openxmlformats.org/officeDocument/2006/relationships/image" Target="../media/image26.png"/><Relationship Id="rId9" Type="http://schemas.openxmlformats.org/officeDocument/2006/relationships/image" Target="../media/image37.jpg"/><Relationship Id="rId5" Type="http://schemas.openxmlformats.org/officeDocument/2006/relationships/image" Target="../media/image22.png"/><Relationship Id="rId6" Type="http://schemas.openxmlformats.org/officeDocument/2006/relationships/image" Target="../media/image42.png"/><Relationship Id="rId7" Type="http://schemas.openxmlformats.org/officeDocument/2006/relationships/image" Target="../media/image29.jpg"/><Relationship Id="rId8" Type="http://schemas.openxmlformats.org/officeDocument/2006/relationships/image" Target="../media/image2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39.png"/><Relationship Id="rId5" Type="http://schemas.openxmlformats.org/officeDocument/2006/relationships/image" Target="../media/image3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png"/><Relationship Id="rId4" Type="http://schemas.openxmlformats.org/officeDocument/2006/relationships/image" Target="../media/image5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9.png"/><Relationship Id="rId4" Type="http://schemas.openxmlformats.org/officeDocument/2006/relationships/image" Target="../media/image4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Relationship Id="rId4" Type="http://schemas.openxmlformats.org/officeDocument/2006/relationships/image" Target="../media/image4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png"/><Relationship Id="rId4" Type="http://schemas.openxmlformats.org/officeDocument/2006/relationships/image" Target="../media/image53.jpg"/><Relationship Id="rId5" Type="http://schemas.openxmlformats.org/officeDocument/2006/relationships/image" Target="../media/image4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49.png"/><Relationship Id="rId5" Type="http://schemas.openxmlformats.org/officeDocument/2006/relationships/image" Target="../media/image5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57.png"/><Relationship Id="rId5" Type="http://schemas.openxmlformats.org/officeDocument/2006/relationships/image" Target="../media/image5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5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9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8050" y="4334619"/>
            <a:ext cx="5295900" cy="128200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 txBox="1"/>
          <p:nvPr/>
        </p:nvSpPr>
        <p:spPr>
          <a:xfrm>
            <a:off x="1530429" y="1241226"/>
            <a:ext cx="9131141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Linguagens de Consulta: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SQL</a:t>
            </a:r>
            <a:r>
              <a:rPr b="1" i="0" lang="en-US" sz="5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para Iniciantes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2100262" y="3168848"/>
            <a:ext cx="79914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Poppins Light"/>
                <a:ea typeface="Poppins Light"/>
                <a:cs typeface="Poppins Light"/>
                <a:sym typeface="Poppins Light"/>
              </a:rPr>
              <a:t>Desmistificando DDL e DML na estruturação e manipulação de dados.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3448050" y="4725144"/>
            <a:ext cx="529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6EE7B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Candidato</a:t>
            </a:r>
            <a:r>
              <a:rPr b="0" i="0" lang="en-US" sz="1500" u="none" cap="none" strike="noStrike">
                <a:solidFill>
                  <a:srgbClr val="6EE7B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Daniel dos Santos Saraiva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3448050" y="5220444"/>
            <a:ext cx="52959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Concurso Público IFCE - Área: Metodologia e Técnicas da Computação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5"/>
          <p:cNvGrpSpPr/>
          <p:nvPr/>
        </p:nvGrpSpPr>
        <p:grpSpPr>
          <a:xfrm>
            <a:off x="571500" y="476250"/>
            <a:ext cx="11049000" cy="800100"/>
            <a:chOff x="571500" y="476250"/>
            <a:chExt cx="11049000" cy="800100"/>
          </a:xfrm>
        </p:grpSpPr>
        <p:sp>
          <p:nvSpPr>
            <p:cNvPr id="98" name="Google Shape;98;p15"/>
            <p:cNvSpPr txBox="1"/>
            <p:nvPr/>
          </p:nvSpPr>
          <p:spPr>
            <a:xfrm>
              <a:off x="571500" y="476250"/>
              <a:ext cx="1104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Quem sou eu?</a:t>
              </a:r>
              <a:endParaRPr b="1" sz="36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571500" y="1238250"/>
              <a:ext cx="762000" cy="381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" name="Google Shape;100;p15"/>
          <p:cNvGrpSpPr/>
          <p:nvPr/>
        </p:nvGrpSpPr>
        <p:grpSpPr>
          <a:xfrm>
            <a:off x="571500" y="1524000"/>
            <a:ext cx="3429000" cy="4572000"/>
            <a:chOff x="571500" y="1524000"/>
            <a:chExt cx="3429000" cy="4572000"/>
          </a:xfrm>
        </p:grpSpPr>
        <p:sp>
          <p:nvSpPr>
            <p:cNvPr id="101" name="Google Shape;101;p15"/>
            <p:cNvSpPr/>
            <p:nvPr/>
          </p:nvSpPr>
          <p:spPr>
            <a:xfrm>
              <a:off x="571500" y="1524000"/>
              <a:ext cx="3429000" cy="4572000"/>
            </a:xfrm>
            <a:prstGeom prst="roundRect">
              <a:avLst>
                <a:gd fmla="val 6666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2" name="Google Shape;102;p15"/>
            <p:cNvPicPr preferRelativeResize="0"/>
            <p:nvPr/>
          </p:nvPicPr>
          <p:blipFill rotWithShape="1">
            <a:blip r:embed="rId5">
              <a:alphaModFix/>
            </a:blip>
            <a:srcRect b="12523" l="0" r="0" t="12531"/>
            <a:stretch/>
          </p:blipFill>
          <p:spPr>
            <a:xfrm>
              <a:off x="762000" y="1809750"/>
              <a:ext cx="3048000" cy="3048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03" name="Google Shape;103;p15"/>
            <p:cNvSpPr txBox="1"/>
            <p:nvPr/>
          </p:nvSpPr>
          <p:spPr>
            <a:xfrm>
              <a:off x="762000" y="4953000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Daniel Saraiva</a:t>
              </a:r>
              <a:endParaRPr b="1" sz="2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41 anos • Casado</a:t>
              </a:r>
              <a:endParaRPr b="0" sz="14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0B98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Professor</a:t>
              </a:r>
              <a:endParaRPr b="0" sz="1200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04" name="Google Shape;104;p15"/>
          <p:cNvGrpSpPr/>
          <p:nvPr/>
        </p:nvGrpSpPr>
        <p:grpSpPr>
          <a:xfrm>
            <a:off x="4381500" y="1524000"/>
            <a:ext cx="7239000" cy="1238400"/>
            <a:chOff x="4381500" y="1524000"/>
            <a:chExt cx="7239000" cy="1238400"/>
          </a:xfrm>
        </p:grpSpPr>
        <p:sp>
          <p:nvSpPr>
            <p:cNvPr id="105" name="Google Shape;105;p15"/>
            <p:cNvSpPr/>
            <p:nvPr/>
          </p:nvSpPr>
          <p:spPr>
            <a:xfrm>
              <a:off x="4381500" y="1524000"/>
              <a:ext cx="7239000" cy="1238400"/>
            </a:xfrm>
            <a:prstGeom prst="roundRect">
              <a:avLst>
                <a:gd fmla="val 12307" name="adj"/>
              </a:avLst>
            </a:prstGeom>
            <a:solidFill>
              <a:srgbClr val="1E293B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4619625" y="1701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5095875" y="1666875"/>
              <a:ext cx="628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Graduação</a:t>
              </a:r>
              <a:endParaRPr b="1" sz="18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• Graduação em Telemática</a:t>
              </a:r>
              <a:endParaRPr b="0" sz="13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• Graduação em Computação</a:t>
              </a:r>
              <a:endParaRPr b="0" sz="13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08" name="Google Shape;108;p15"/>
          <p:cNvGrpSpPr/>
          <p:nvPr/>
        </p:nvGrpSpPr>
        <p:grpSpPr>
          <a:xfrm>
            <a:off x="4381500" y="2952750"/>
            <a:ext cx="7239000" cy="1714500"/>
            <a:chOff x="4381500" y="2952750"/>
            <a:chExt cx="7239000" cy="1714500"/>
          </a:xfrm>
        </p:grpSpPr>
        <p:sp>
          <p:nvSpPr>
            <p:cNvPr id="109" name="Google Shape;109;p15"/>
            <p:cNvSpPr/>
            <p:nvPr/>
          </p:nvSpPr>
          <p:spPr>
            <a:xfrm>
              <a:off x="4381500" y="2952750"/>
              <a:ext cx="7239000" cy="1714500"/>
            </a:xfrm>
            <a:prstGeom prst="roundRect">
              <a:avLst>
                <a:gd fmla="val 8888" name="adj"/>
              </a:avLst>
            </a:prstGeom>
            <a:solidFill>
              <a:srgbClr val="1E293B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 txBox="1"/>
            <p:nvPr/>
          </p:nvSpPr>
          <p:spPr>
            <a:xfrm>
              <a:off x="4619625" y="31306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workspace_premium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5095875" y="3095625"/>
              <a:ext cx="6286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Pós-Graduação</a:t>
              </a:r>
              <a:endParaRPr b="1" sz="18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• Especialização em Análise, Projeto e Gerência de Sistemas</a:t>
              </a:r>
              <a:endParaRPr b="0" sz="13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• Especialização em Engenharia de Software</a:t>
              </a:r>
              <a:endParaRPr b="0" sz="13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• Especialização em Docência na Educação Profissional</a:t>
              </a:r>
              <a:endParaRPr b="0" sz="13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12" name="Google Shape;112;p15"/>
          <p:cNvGrpSpPr/>
          <p:nvPr/>
        </p:nvGrpSpPr>
        <p:grpSpPr>
          <a:xfrm>
            <a:off x="4381500" y="4857750"/>
            <a:ext cx="7239000" cy="762000"/>
            <a:chOff x="4381500" y="4857750"/>
            <a:chExt cx="7239000" cy="762000"/>
          </a:xfrm>
        </p:grpSpPr>
        <p:sp>
          <p:nvSpPr>
            <p:cNvPr id="113" name="Google Shape;113;p15"/>
            <p:cNvSpPr/>
            <p:nvPr/>
          </p:nvSpPr>
          <p:spPr>
            <a:xfrm>
              <a:off x="4381500" y="4857750"/>
              <a:ext cx="7239000" cy="762000"/>
            </a:xfrm>
            <a:prstGeom prst="roundRect">
              <a:avLst>
                <a:gd fmla="val 20000" name="adj"/>
              </a:avLst>
            </a:prstGeom>
            <a:solidFill>
              <a:srgbClr val="10B981">
                <a:alpha val="10000"/>
              </a:srgbClr>
            </a:solidFill>
            <a:ln cap="flat" cmpd="sng" w="952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 txBox="1"/>
            <p:nvPr/>
          </p:nvSpPr>
          <p:spPr>
            <a:xfrm>
              <a:off x="4619625" y="5035677"/>
              <a:ext cx="38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5095875" y="5000625"/>
              <a:ext cx="628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Mestrado: </a:t>
              </a:r>
              <a:r>
                <a:rPr b="0" lang="en-US" sz="16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Computação Aplicada</a:t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6"/>
          <p:cNvGrpSpPr/>
          <p:nvPr/>
        </p:nvGrpSpPr>
        <p:grpSpPr>
          <a:xfrm>
            <a:off x="571500" y="476250"/>
            <a:ext cx="11049000" cy="800100"/>
            <a:chOff x="0" y="0"/>
            <a:chExt cx="11049000" cy="800100"/>
          </a:xfrm>
        </p:grpSpPr>
        <p:sp>
          <p:nvSpPr>
            <p:cNvPr id="123" name="Google Shape;123;p16"/>
            <p:cNvSpPr txBox="1"/>
            <p:nvPr/>
          </p:nvSpPr>
          <p:spPr>
            <a:xfrm>
              <a:off x="0" y="0"/>
              <a:ext cx="1104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Agenda da </a:t>
              </a:r>
              <a:r>
                <a:rPr b="1" lang="en-US" sz="36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Aula</a:t>
              </a:r>
              <a:endParaRPr b="1" sz="36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0" y="762000"/>
              <a:ext cx="762000" cy="381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A clean, minimalist high-tech workspace with a laptop showing code lines and a notebook, professional and dark themed to match a SQL database lecture." id="125" name="Google Shape;125;p16"/>
          <p:cNvPicPr preferRelativeResize="0"/>
          <p:nvPr/>
        </p:nvPicPr>
        <p:blipFill rotWithShape="1">
          <a:blip r:embed="rId4">
            <a:alphaModFix/>
          </a:blip>
          <a:srcRect b="1248" l="0" r="0" t="1248"/>
          <a:stretch/>
        </p:blipFill>
        <p:spPr>
          <a:xfrm>
            <a:off x="571500" y="1524000"/>
            <a:ext cx="3810000" cy="4953000"/>
          </a:xfrm>
          <a:prstGeom prst="roundRect">
            <a:avLst>
              <a:gd fmla="val 6000" name="adj"/>
            </a:avLst>
          </a:prstGeom>
          <a:noFill/>
          <a:ln>
            <a:noFill/>
          </a:ln>
        </p:spPr>
      </p:pic>
      <p:grpSp>
        <p:nvGrpSpPr>
          <p:cNvPr id="126" name="Google Shape;126;p16"/>
          <p:cNvGrpSpPr/>
          <p:nvPr/>
        </p:nvGrpSpPr>
        <p:grpSpPr>
          <a:xfrm>
            <a:off x="4762500" y="1524000"/>
            <a:ext cx="6858000" cy="1082952"/>
            <a:chOff x="0" y="0"/>
            <a:chExt cx="6858000" cy="1082952"/>
          </a:xfrm>
        </p:grpSpPr>
        <p:sp>
          <p:nvSpPr>
            <p:cNvPr id="127" name="Google Shape;127;p16"/>
            <p:cNvSpPr/>
            <p:nvPr/>
          </p:nvSpPr>
          <p:spPr>
            <a:xfrm>
              <a:off x="0" y="0"/>
              <a:ext cx="6858000" cy="1047900"/>
            </a:xfrm>
            <a:prstGeom prst="roundRect">
              <a:avLst>
                <a:gd fmla="val 14545" name="adj"/>
              </a:avLst>
            </a:prstGeom>
            <a:solidFill>
              <a:srgbClr val="1E293B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285750" y="35052"/>
              <a:ext cx="476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intro</a:t>
              </a:r>
              <a:endParaRPr sz="6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857250" y="0"/>
              <a:ext cx="5715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01. Introdução e Conceitos</a:t>
              </a:r>
              <a:endParaRPr b="1" sz="18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O que é SQL e a importância dos dados no mundo moderno.</a:t>
              </a:r>
              <a:endParaRPr b="0" sz="13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30" name="Google Shape;130;p16"/>
          <p:cNvGrpSpPr/>
          <p:nvPr/>
        </p:nvGrpSpPr>
        <p:grpSpPr>
          <a:xfrm>
            <a:off x="4762500" y="2714625"/>
            <a:ext cx="6858000" cy="1082952"/>
            <a:chOff x="0" y="0"/>
            <a:chExt cx="6858000" cy="1082952"/>
          </a:xfrm>
        </p:grpSpPr>
        <p:sp>
          <p:nvSpPr>
            <p:cNvPr id="131" name="Google Shape;131;p16"/>
            <p:cNvSpPr/>
            <p:nvPr/>
          </p:nvSpPr>
          <p:spPr>
            <a:xfrm>
              <a:off x="0" y="0"/>
              <a:ext cx="6858000" cy="1047900"/>
            </a:xfrm>
            <a:prstGeom prst="roundRect">
              <a:avLst>
                <a:gd fmla="val 14545" name="adj"/>
              </a:avLst>
            </a:prstGeom>
            <a:solidFill>
              <a:srgbClr val="1E293B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285750" y="35052"/>
              <a:ext cx="476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architecture</a:t>
              </a:r>
              <a:endParaRPr sz="6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857250" y="0"/>
              <a:ext cx="5715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02. DDL: Definindo a Estrutura</a:t>
              </a:r>
              <a:endParaRPr b="1" sz="18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Comandos para criação e alteração de tabelas e esquemas.</a:t>
              </a:r>
              <a:endParaRPr b="0" sz="13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34" name="Google Shape;134;p16"/>
          <p:cNvGrpSpPr/>
          <p:nvPr/>
        </p:nvGrpSpPr>
        <p:grpSpPr>
          <a:xfrm>
            <a:off x="4762500" y="3905250"/>
            <a:ext cx="6858000" cy="1082952"/>
            <a:chOff x="0" y="0"/>
            <a:chExt cx="6858000" cy="1082952"/>
          </a:xfrm>
        </p:grpSpPr>
        <p:sp>
          <p:nvSpPr>
            <p:cNvPr id="135" name="Google Shape;135;p16"/>
            <p:cNvSpPr/>
            <p:nvPr/>
          </p:nvSpPr>
          <p:spPr>
            <a:xfrm>
              <a:off x="0" y="0"/>
              <a:ext cx="6858000" cy="1047900"/>
            </a:xfrm>
            <a:prstGeom prst="roundRect">
              <a:avLst>
                <a:gd fmla="val 14545" name="adj"/>
              </a:avLst>
            </a:prstGeom>
            <a:solidFill>
              <a:srgbClr val="1E293B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285750" y="35052"/>
              <a:ext cx="476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edit_note</a:t>
              </a:r>
              <a:endParaRPr sz="6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857250" y="0"/>
              <a:ext cx="5715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03. DML: Manipulando Dados</a:t>
              </a:r>
              <a:endParaRPr b="1" sz="18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Inserção, atualização, remoção e consultas essenciais.</a:t>
              </a:r>
              <a:endParaRPr b="0" sz="13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38" name="Google Shape;138;p16"/>
          <p:cNvGrpSpPr/>
          <p:nvPr/>
        </p:nvGrpSpPr>
        <p:grpSpPr>
          <a:xfrm>
            <a:off x="4762500" y="5095875"/>
            <a:ext cx="6858000" cy="1035252"/>
            <a:chOff x="0" y="0"/>
            <a:chExt cx="6858000" cy="1035252"/>
          </a:xfrm>
        </p:grpSpPr>
        <p:sp>
          <p:nvSpPr>
            <p:cNvPr id="139" name="Google Shape;139;p16"/>
            <p:cNvSpPr/>
            <p:nvPr/>
          </p:nvSpPr>
          <p:spPr>
            <a:xfrm>
              <a:off x="0" y="0"/>
              <a:ext cx="6858000" cy="1000200"/>
            </a:xfrm>
            <a:prstGeom prst="roundRect">
              <a:avLst>
                <a:gd fmla="val 15238" name="adj"/>
              </a:avLst>
            </a:prstGeom>
            <a:solidFill>
              <a:srgbClr val="10B981">
                <a:alpha val="10000"/>
              </a:srgbClr>
            </a:solidFill>
            <a:ln cap="flat" cmpd="sng" w="952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285750" y="35052"/>
              <a:ext cx="4764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 sz="6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1" name="Google Shape;141;p16"/>
            <p:cNvSpPr txBox="1"/>
            <p:nvPr/>
          </p:nvSpPr>
          <p:spPr>
            <a:xfrm>
              <a:off x="857250" y="0"/>
              <a:ext cx="57150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04. Prática e Exercícios</a:t>
              </a:r>
              <a:endParaRPr b="1" sz="18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Aplicação direta dos conceitos em um ambiente de banco de dados.</a:t>
              </a:r>
              <a:endParaRPr b="0" sz="13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2190750" y="1761232"/>
            <a:ext cx="7810500" cy="224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"Os dados são o novo petróleo. Mas, assim como o petróleo, eles não têm valor até serem refinados e extraídos corretamente." 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214937" y="4296667"/>
            <a:ext cx="1762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— Clive Humby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809750" y="5001517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E como extraímos esse valor? Através das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Linguagens de Consulta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9350"/>
            <a:ext cx="523875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419350"/>
            <a:ext cx="523875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962025" y="2809875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 Linguagem Padrão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962025" y="3400425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SQL (</a:t>
            </a:r>
            <a:r>
              <a:rPr b="0" i="1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Structured Query Language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) é a linguagem de programação universal utilizada para gerenciar, armazenar e consultar informações em Bancos de Dados Relacionais.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772275" y="2809875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Muito Além de Planilhas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772275" y="3400425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Enquanto uma planilha trava com muitos dados, o SQL é projetado para processar, filtrar e cruzar milhões de registros em frações de segundo, com total segurança e integridade.</a:t>
            </a:r>
            <a:endParaRPr/>
          </a:p>
        </p:txBody>
      </p:sp>
      <p:pic>
        <p:nvPicPr>
          <p:cNvPr descr="image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867025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86702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 que é </a:t>
            </a:r>
            <a:r>
              <a:rPr b="1" i="0" lang="en-US" sz="36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SQL</a:t>
            </a:r>
            <a:r>
              <a:rPr b="1" i="0" lang="en-US" sz="36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14500"/>
            <a:ext cx="3492400" cy="449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1714500"/>
            <a:ext cx="3492549" cy="449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1714500"/>
            <a:ext cx="349240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794228" y="3019425"/>
            <a:ext cx="304694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DDL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866775" y="3609975"/>
            <a:ext cx="2901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Data Definition Language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866775" y="4105275"/>
            <a:ext cx="29018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A Estrutura.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 São as paredes e os cômodos. Comandos que definem como a nossa "casa" de dados será construída e estruturada.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4572375" y="3019425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DML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4644925" y="3609975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Data Manipulation Language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4644925" y="4105275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A Mobília.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 São os moradores e os móveis. Comandos para inserir, buscar, atualizar ou remover informações de dentro da casa.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8350679" y="3019425"/>
            <a:ext cx="304694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DCL / TCL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423225" y="3609975"/>
            <a:ext cx="2901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Controle e Transações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423225" y="4105275"/>
            <a:ext cx="29018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As Fechaduras.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 Comandos avançados que determinam quem tem a chave para entrar na casa e como proteger as transações.</a:t>
            </a:r>
            <a:endParaRPr/>
          </a:p>
        </p:txBody>
      </p:sp>
      <p:pic>
        <p:nvPicPr>
          <p:cNvPr descr="image.png" id="181" name="Google Shape;18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9575" y="22098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5813" y="220980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6025" y="22098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As Gavetas do </a:t>
            </a:r>
            <a:r>
              <a:rPr b="1" i="0" lang="en-US" sz="36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SQL</a:t>
            </a:r>
            <a:r>
              <a:rPr b="1" i="0" lang="en-US" sz="36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(A Analogia da Casa)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1520428" y="2141190"/>
            <a:ext cx="91511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Foco na Estrutura: </a:t>
            </a:r>
            <a:r>
              <a:rPr b="1" i="0" lang="en-US" sz="6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DDL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381625" y="3569940"/>
            <a:ext cx="14287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3152775" y="4122390"/>
            <a:ext cx="58864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Definition Language: Construindo a fundação.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5740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610100"/>
            <a:ext cx="523875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2076450"/>
            <a:ext cx="520065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952500" y="20193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O comando principal da DDL.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952500" y="251460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Define o nome da tabela que armazenará os dados.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952500" y="33147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Estabelece as colunas (atributos) e suas regras.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952500" y="381000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Define Tipos de Dados estritos (Ex: `INT` para números inteiros, `VARCHAR` para textos).</a:t>
            </a:r>
            <a:endParaRPr/>
          </a:p>
        </p:txBody>
      </p:sp>
      <p:pic>
        <p:nvPicPr>
          <p:cNvPr descr="image.png" id="205" name="Google Shape;20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0574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5527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528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848100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 Comando </a:t>
            </a:r>
            <a:r>
              <a:rPr b="1" i="0" lang="en-US" sz="36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CREATE TABLE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571500" y="571500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Outros Comandos </a:t>
            </a:r>
            <a:r>
              <a:rPr b="1" lang="en-US" sz="36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DDL</a:t>
            </a:r>
            <a:r>
              <a:rPr b="1" lang="en-US" sz="36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Essenciais</a:t>
            </a:r>
            <a:endParaRPr b="1" sz="36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16" name="Google Shape;216;p22"/>
          <p:cNvGrpSpPr/>
          <p:nvPr/>
        </p:nvGrpSpPr>
        <p:grpSpPr>
          <a:xfrm>
            <a:off x="571500" y="1714500"/>
            <a:ext cx="3429000" cy="4572000"/>
            <a:chOff x="0" y="0"/>
            <a:chExt cx="3429000" cy="4572000"/>
          </a:xfrm>
        </p:grpSpPr>
        <p:sp>
          <p:nvSpPr>
            <p:cNvPr id="217" name="Google Shape;217;p22"/>
            <p:cNvSpPr/>
            <p:nvPr/>
          </p:nvSpPr>
          <p:spPr>
            <a:xfrm>
              <a:off x="0" y="0"/>
              <a:ext cx="3429000" cy="4572000"/>
            </a:xfrm>
            <a:prstGeom prst="roundRect">
              <a:avLst>
                <a:gd fmla="val 4166" name="adj"/>
              </a:avLst>
            </a:prstGeom>
            <a:solidFill>
              <a:srgbClr val="1E293B">
                <a:alpha val="5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2"/>
            <p:cNvSpPr txBox="1"/>
            <p:nvPr/>
          </p:nvSpPr>
          <p:spPr>
            <a:xfrm>
              <a:off x="238125" y="285750"/>
              <a:ext cx="2952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ALTER TABLE</a:t>
              </a:r>
              <a:endParaRPr b="1" sz="22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9" name="Google Shape;219;p22"/>
            <p:cNvSpPr txBox="1"/>
            <p:nvPr/>
          </p:nvSpPr>
          <p:spPr>
            <a:xfrm>
              <a:off x="238125" y="762000"/>
              <a:ext cx="2952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Modifica a estrutura de uma tabela já existente. Permite adicionar, remover ou alterar colunas e restrições.</a:t>
              </a:r>
              <a:endParaRPr b="0" sz="14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0" name="Google Shape;220;p22"/>
            <p:cNvSpPr/>
            <p:nvPr/>
          </p:nvSpPr>
          <p:spPr>
            <a:xfrm>
              <a:off x="238125" y="2095500"/>
              <a:ext cx="2952900" cy="1524000"/>
            </a:xfrm>
            <a:prstGeom prst="roundRect">
              <a:avLst>
                <a:gd fmla="val 5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2"/>
            <p:cNvSpPr txBox="1"/>
            <p:nvPr/>
          </p:nvSpPr>
          <p:spPr>
            <a:xfrm>
              <a:off x="333375" y="2238375"/>
              <a:ext cx="2762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10B981"/>
                  </a:solidFill>
                  <a:highlight>
                    <a:srgbClr val="1E293B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ALTER TABLE usuarios</a:t>
              </a:r>
              <a:endParaRPr sz="1200">
                <a:solidFill>
                  <a:srgbClr val="10B981"/>
                </a:solidFill>
                <a:highlight>
                  <a:srgbClr val="1E293B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10B981"/>
                  </a:solidFill>
                  <a:highlight>
                    <a:srgbClr val="1E293B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ADD COLUMN data_nasc DATE;</a:t>
              </a:r>
              <a:endParaRPr sz="1200">
                <a:solidFill>
                  <a:srgbClr val="10B981"/>
                </a:solidFill>
                <a:highlight>
                  <a:srgbClr val="1E293B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22" name="Google Shape;222;p22"/>
            <p:cNvSpPr txBox="1"/>
            <p:nvPr/>
          </p:nvSpPr>
          <p:spPr>
            <a:xfrm>
              <a:off x="238125" y="3810000"/>
              <a:ext cx="2952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94A3B8"/>
                  </a:solidFill>
                  <a:latin typeface="Poppins"/>
                  <a:ea typeface="Poppins"/>
                  <a:cs typeface="Poppins"/>
                  <a:sym typeface="Poppins"/>
                </a:rPr>
                <a:t>Ação: Modificar</a:t>
              </a:r>
              <a:endParaRPr b="1" sz="11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23" name="Google Shape;223;p22"/>
          <p:cNvGrpSpPr/>
          <p:nvPr/>
        </p:nvGrpSpPr>
        <p:grpSpPr>
          <a:xfrm>
            <a:off x="4381500" y="1714500"/>
            <a:ext cx="3429000" cy="4572000"/>
            <a:chOff x="0" y="0"/>
            <a:chExt cx="3429000" cy="4572000"/>
          </a:xfrm>
        </p:grpSpPr>
        <p:sp>
          <p:nvSpPr>
            <p:cNvPr id="224" name="Google Shape;224;p22"/>
            <p:cNvSpPr/>
            <p:nvPr/>
          </p:nvSpPr>
          <p:spPr>
            <a:xfrm>
              <a:off x="0" y="0"/>
              <a:ext cx="3429000" cy="4572000"/>
            </a:xfrm>
            <a:prstGeom prst="roundRect">
              <a:avLst>
                <a:gd fmla="val 4166" name="adj"/>
              </a:avLst>
            </a:prstGeom>
            <a:solidFill>
              <a:srgbClr val="1E293B">
                <a:alpha val="5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2"/>
            <p:cNvSpPr txBox="1"/>
            <p:nvPr/>
          </p:nvSpPr>
          <p:spPr>
            <a:xfrm>
              <a:off x="238125" y="285750"/>
              <a:ext cx="2952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DROP TABLE</a:t>
              </a:r>
              <a:endParaRPr b="1" sz="22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6" name="Google Shape;226;p22"/>
            <p:cNvSpPr txBox="1"/>
            <p:nvPr/>
          </p:nvSpPr>
          <p:spPr>
            <a:xfrm>
              <a:off x="238125" y="762000"/>
              <a:ext cx="2952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Exclui permanentemente a tabela e todos os seus dados do banco de dados. Operação irreversível!</a:t>
              </a:r>
              <a:endParaRPr b="0" sz="14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7" name="Google Shape;227;p22"/>
            <p:cNvSpPr/>
            <p:nvPr/>
          </p:nvSpPr>
          <p:spPr>
            <a:xfrm>
              <a:off x="238125" y="2095500"/>
              <a:ext cx="2952900" cy="1524000"/>
            </a:xfrm>
            <a:prstGeom prst="roundRect">
              <a:avLst>
                <a:gd fmla="val 5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2"/>
            <p:cNvSpPr txBox="1"/>
            <p:nvPr/>
          </p:nvSpPr>
          <p:spPr>
            <a:xfrm>
              <a:off x="333375" y="2238375"/>
              <a:ext cx="2762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10B981"/>
                  </a:solidFill>
                  <a:highlight>
                    <a:srgbClr val="1E293B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DROP TABLE pedidos;</a:t>
              </a:r>
              <a:endParaRPr sz="1200">
                <a:solidFill>
                  <a:srgbClr val="10B981"/>
                </a:solidFill>
                <a:highlight>
                  <a:srgbClr val="1E293B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29" name="Google Shape;229;p22"/>
            <p:cNvSpPr txBox="1"/>
            <p:nvPr/>
          </p:nvSpPr>
          <p:spPr>
            <a:xfrm>
              <a:off x="238125" y="3810000"/>
              <a:ext cx="2952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EF4444"/>
                  </a:solidFill>
                  <a:latin typeface="Poppins"/>
                  <a:ea typeface="Poppins"/>
                  <a:cs typeface="Poppins"/>
                  <a:sym typeface="Poppins"/>
                </a:rPr>
                <a:t>Ação: Excluir Objeto</a:t>
              </a:r>
              <a:endParaRPr b="1" sz="110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30" name="Google Shape;230;p22"/>
          <p:cNvGrpSpPr/>
          <p:nvPr/>
        </p:nvGrpSpPr>
        <p:grpSpPr>
          <a:xfrm>
            <a:off x="8191500" y="1714500"/>
            <a:ext cx="3429000" cy="4572000"/>
            <a:chOff x="0" y="0"/>
            <a:chExt cx="3429000" cy="4572000"/>
          </a:xfrm>
        </p:grpSpPr>
        <p:sp>
          <p:nvSpPr>
            <p:cNvPr id="231" name="Google Shape;231;p22"/>
            <p:cNvSpPr/>
            <p:nvPr/>
          </p:nvSpPr>
          <p:spPr>
            <a:xfrm>
              <a:off x="0" y="0"/>
              <a:ext cx="3429000" cy="4572000"/>
            </a:xfrm>
            <a:prstGeom prst="roundRect">
              <a:avLst>
                <a:gd fmla="val 4166" name="adj"/>
              </a:avLst>
            </a:prstGeom>
            <a:solidFill>
              <a:srgbClr val="1E293B">
                <a:alpha val="5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2"/>
            <p:cNvSpPr txBox="1"/>
            <p:nvPr/>
          </p:nvSpPr>
          <p:spPr>
            <a:xfrm>
              <a:off x="238125" y="285750"/>
              <a:ext cx="2952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TRUNCATE</a:t>
              </a:r>
              <a:endParaRPr b="1" sz="22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3" name="Google Shape;233;p22"/>
            <p:cNvSpPr txBox="1"/>
            <p:nvPr/>
          </p:nvSpPr>
          <p:spPr>
            <a:xfrm>
              <a:off x="238125" y="762000"/>
              <a:ext cx="2952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Remove todos os registros da tabela, mas mantém sua estrutura intacta para novos dados.</a:t>
              </a:r>
              <a:endParaRPr b="0" sz="14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4" name="Google Shape;234;p22"/>
            <p:cNvSpPr/>
            <p:nvPr/>
          </p:nvSpPr>
          <p:spPr>
            <a:xfrm>
              <a:off x="238125" y="2095500"/>
              <a:ext cx="2952900" cy="1524000"/>
            </a:xfrm>
            <a:prstGeom prst="roundRect">
              <a:avLst>
                <a:gd fmla="val 5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2"/>
            <p:cNvSpPr txBox="1"/>
            <p:nvPr/>
          </p:nvSpPr>
          <p:spPr>
            <a:xfrm>
              <a:off x="333375" y="2238375"/>
              <a:ext cx="2762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10B981"/>
                  </a:solidFill>
                  <a:highlight>
                    <a:srgbClr val="1E293B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TRUNCATE TABLE logs;</a:t>
              </a:r>
              <a:endParaRPr sz="1200">
                <a:solidFill>
                  <a:srgbClr val="10B981"/>
                </a:solidFill>
                <a:highlight>
                  <a:srgbClr val="1E293B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36" name="Google Shape;236;p22"/>
            <p:cNvSpPr txBox="1"/>
            <p:nvPr/>
          </p:nvSpPr>
          <p:spPr>
            <a:xfrm>
              <a:off x="238125" y="3810000"/>
              <a:ext cx="2952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94A3B8"/>
                  </a:solidFill>
                  <a:latin typeface="Poppins"/>
                  <a:ea typeface="Poppins"/>
                  <a:cs typeface="Poppins"/>
                  <a:sym typeface="Poppins"/>
                </a:rPr>
                <a:t>Ação: Esvaziar Dados</a:t>
              </a:r>
              <a:endParaRPr b="1" sz="11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571500" y="571500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Demonstração Prática: </a:t>
            </a:r>
            <a:r>
              <a:rPr b="1" lang="en-US" sz="36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Fluxo DDL</a:t>
            </a:r>
            <a:endParaRPr b="1" sz="36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43" name="Google Shape;243;p23"/>
          <p:cNvGrpSpPr/>
          <p:nvPr/>
        </p:nvGrpSpPr>
        <p:grpSpPr>
          <a:xfrm>
            <a:off x="571500" y="1714500"/>
            <a:ext cx="3429000" cy="4572000"/>
            <a:chOff x="0" y="0"/>
            <a:chExt cx="3429000" cy="4572000"/>
          </a:xfrm>
        </p:grpSpPr>
        <p:sp>
          <p:nvSpPr>
            <p:cNvPr id="244" name="Google Shape;244;p23"/>
            <p:cNvSpPr/>
            <p:nvPr/>
          </p:nvSpPr>
          <p:spPr>
            <a:xfrm>
              <a:off x="0" y="0"/>
              <a:ext cx="3429000" cy="4572000"/>
            </a:xfrm>
            <a:prstGeom prst="roundRect">
              <a:avLst>
                <a:gd fmla="val 4166" name="adj"/>
              </a:avLst>
            </a:prstGeom>
            <a:solidFill>
              <a:srgbClr val="1E293B">
                <a:alpha val="5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3"/>
            <p:cNvSpPr txBox="1"/>
            <p:nvPr/>
          </p:nvSpPr>
          <p:spPr>
            <a:xfrm>
              <a:off x="238125" y="238125"/>
              <a:ext cx="2952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1. CRIAÇÃO (Base)</a:t>
              </a:r>
              <a:endParaRPr b="1" sz="1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6" name="Google Shape;246;p23"/>
            <p:cNvSpPr txBox="1"/>
            <p:nvPr/>
          </p:nvSpPr>
          <p:spPr>
            <a:xfrm>
              <a:off x="238125" y="666750"/>
              <a:ext cx="2952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Começamos definindo a tabela inicial com colunas básicas.</a:t>
              </a:r>
              <a:endParaRPr b="0" sz="12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7" name="Google Shape;247;p23"/>
            <p:cNvSpPr/>
            <p:nvPr/>
          </p:nvSpPr>
          <p:spPr>
            <a:xfrm>
              <a:off x="238125" y="1333500"/>
              <a:ext cx="2952900" cy="2667000"/>
            </a:xfrm>
            <a:prstGeom prst="roundRect">
              <a:avLst>
                <a:gd fmla="val 2857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3"/>
            <p:cNvSpPr txBox="1"/>
            <p:nvPr/>
          </p:nvSpPr>
          <p:spPr>
            <a:xfrm>
              <a:off x="381000" y="1476375"/>
              <a:ext cx="26670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CREATE TABLE frota (</a:t>
              </a:r>
              <a:b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id INT PRIMARY KEY,</a:t>
              </a:r>
              <a:b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modelo VARCHAR(50)</a:t>
              </a:r>
              <a:b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sz="13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49" name="Google Shape;249;p23"/>
          <p:cNvGrpSpPr/>
          <p:nvPr/>
        </p:nvGrpSpPr>
        <p:grpSpPr>
          <a:xfrm>
            <a:off x="4381500" y="1714500"/>
            <a:ext cx="3429000" cy="4572000"/>
            <a:chOff x="0" y="0"/>
            <a:chExt cx="3429000" cy="4572000"/>
          </a:xfrm>
        </p:grpSpPr>
        <p:sp>
          <p:nvSpPr>
            <p:cNvPr id="250" name="Google Shape;250;p23"/>
            <p:cNvSpPr/>
            <p:nvPr/>
          </p:nvSpPr>
          <p:spPr>
            <a:xfrm>
              <a:off x="0" y="0"/>
              <a:ext cx="3429000" cy="4572000"/>
            </a:xfrm>
            <a:prstGeom prst="roundRect">
              <a:avLst>
                <a:gd fmla="val 4166" name="adj"/>
              </a:avLst>
            </a:prstGeom>
            <a:solidFill>
              <a:srgbClr val="1E293B">
                <a:alpha val="5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3"/>
            <p:cNvSpPr txBox="1"/>
            <p:nvPr/>
          </p:nvSpPr>
          <p:spPr>
            <a:xfrm>
              <a:off x="238125" y="238125"/>
              <a:ext cx="2952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2. EVOLUÇÃO (Alter)</a:t>
              </a:r>
              <a:endParaRPr b="1" sz="1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2" name="Google Shape;252;p23"/>
            <p:cNvSpPr txBox="1"/>
            <p:nvPr/>
          </p:nvSpPr>
          <p:spPr>
            <a:xfrm>
              <a:off x="238125" y="666750"/>
              <a:ext cx="2952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A estrutura muda conforme a necessidade do negócio.</a:t>
              </a:r>
              <a:endParaRPr b="0" sz="12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3" name="Google Shape;253;p23"/>
            <p:cNvSpPr/>
            <p:nvPr/>
          </p:nvSpPr>
          <p:spPr>
            <a:xfrm>
              <a:off x="238125" y="1333500"/>
              <a:ext cx="2952900" cy="2667000"/>
            </a:xfrm>
            <a:prstGeom prst="roundRect">
              <a:avLst>
                <a:gd fmla="val 2857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3"/>
            <p:cNvSpPr txBox="1"/>
            <p:nvPr/>
          </p:nvSpPr>
          <p:spPr>
            <a:xfrm>
              <a:off x="381000" y="1476375"/>
              <a:ext cx="26670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ALTER TABLE frota</a:t>
              </a:r>
              <a:b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ADD COLUMN ano INT;</a:t>
              </a:r>
              <a:b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b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ALTER TABLE frota</a:t>
              </a:r>
              <a:b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ADD COLUMN placa </a:t>
              </a:r>
              <a:b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CHAR(7);</a:t>
              </a:r>
              <a:endParaRPr sz="13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55" name="Google Shape;255;p23"/>
          <p:cNvGrpSpPr/>
          <p:nvPr/>
        </p:nvGrpSpPr>
        <p:grpSpPr>
          <a:xfrm>
            <a:off x="8191500" y="1714500"/>
            <a:ext cx="3429000" cy="4572000"/>
            <a:chOff x="0" y="0"/>
            <a:chExt cx="3429000" cy="4572000"/>
          </a:xfrm>
        </p:grpSpPr>
        <p:sp>
          <p:nvSpPr>
            <p:cNvPr id="256" name="Google Shape;256;p23"/>
            <p:cNvSpPr/>
            <p:nvPr/>
          </p:nvSpPr>
          <p:spPr>
            <a:xfrm>
              <a:off x="0" y="0"/>
              <a:ext cx="3429000" cy="4572000"/>
            </a:xfrm>
            <a:prstGeom prst="roundRect">
              <a:avLst>
                <a:gd fmla="val 4166" name="adj"/>
              </a:avLst>
            </a:prstGeom>
            <a:solidFill>
              <a:srgbClr val="1E293B">
                <a:alpha val="5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3"/>
            <p:cNvSpPr txBox="1"/>
            <p:nvPr/>
          </p:nvSpPr>
          <p:spPr>
            <a:xfrm>
              <a:off x="238125" y="238125"/>
              <a:ext cx="2952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3. LIMPEZA (Truncate)</a:t>
              </a:r>
              <a:endParaRPr b="1" sz="1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8" name="Google Shape;258;p23"/>
            <p:cNvSpPr txBox="1"/>
            <p:nvPr/>
          </p:nvSpPr>
          <p:spPr>
            <a:xfrm>
              <a:off x="238125" y="666750"/>
              <a:ext cx="2952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Remoção rápida de dados mantendo a estrutura pronta.</a:t>
              </a:r>
              <a:endParaRPr b="0" sz="12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9" name="Google Shape;259;p23"/>
            <p:cNvSpPr/>
            <p:nvPr/>
          </p:nvSpPr>
          <p:spPr>
            <a:xfrm>
              <a:off x="238125" y="1333500"/>
              <a:ext cx="2952900" cy="2667000"/>
            </a:xfrm>
            <a:prstGeom prst="roundRect">
              <a:avLst>
                <a:gd fmla="val 2857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3"/>
            <p:cNvSpPr txBox="1"/>
            <p:nvPr/>
          </p:nvSpPr>
          <p:spPr>
            <a:xfrm>
              <a:off x="381000" y="1476375"/>
              <a:ext cx="26670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TRUNCATE TABLE frota;</a:t>
              </a:r>
              <a:b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b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-- Estrutura mantida</a:t>
              </a:r>
              <a:b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-- Dados removidos</a:t>
              </a:r>
              <a:b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lang="en-US" sz="13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-- IDs reiniciados</a:t>
              </a:r>
              <a:endParaRPr sz="13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261" name="Google Shape;2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0500" y="3986213"/>
            <a:ext cx="381000" cy="2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3986213"/>
            <a:ext cx="381000" cy="2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1860470" y="2141190"/>
            <a:ext cx="847105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Foco nos Dados: </a:t>
            </a:r>
            <a:r>
              <a:rPr b="1" i="0" lang="en-US" sz="6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DML</a:t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5381625" y="3569940"/>
            <a:ext cx="14287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2533650" y="4122390"/>
            <a:ext cx="71247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Manipulation Language: Dando vida ao banco de dados.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5"/>
          <p:cNvPicPr preferRelativeResize="0"/>
          <p:nvPr/>
        </p:nvPicPr>
        <p:blipFill rotWithShape="1">
          <a:blip r:embed="rId4">
            <a:alphaModFix/>
          </a:blip>
          <a:srcRect b="0" l="10661" r="10661" t="0"/>
          <a:stretch/>
        </p:blipFill>
        <p:spPr>
          <a:xfrm>
            <a:off x="428625" y="1866900"/>
            <a:ext cx="275040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5"/>
          <p:cNvPicPr preferRelativeResize="0"/>
          <p:nvPr/>
        </p:nvPicPr>
        <p:blipFill rotWithShape="1">
          <a:blip r:embed="rId5">
            <a:alphaModFix/>
          </a:blip>
          <a:srcRect b="0" l="10765" r="10773" t="0"/>
          <a:stretch/>
        </p:blipFill>
        <p:spPr>
          <a:xfrm>
            <a:off x="3321844" y="1866900"/>
            <a:ext cx="275040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5"/>
          <p:cNvPicPr preferRelativeResize="0"/>
          <p:nvPr/>
        </p:nvPicPr>
        <p:blipFill rotWithShape="1">
          <a:blip r:embed="rId6">
            <a:alphaModFix/>
          </a:blip>
          <a:srcRect b="0" l="10661" r="10661" t="0"/>
          <a:stretch/>
        </p:blipFill>
        <p:spPr>
          <a:xfrm>
            <a:off x="6215063" y="1866900"/>
            <a:ext cx="275040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5"/>
          <p:cNvPicPr preferRelativeResize="0"/>
          <p:nvPr/>
        </p:nvPicPr>
        <p:blipFill rotWithShape="1">
          <a:blip r:embed="rId6">
            <a:alphaModFix/>
          </a:blip>
          <a:srcRect b="0" l="10661" r="10661" t="0"/>
          <a:stretch/>
        </p:blipFill>
        <p:spPr>
          <a:xfrm>
            <a:off x="9108281" y="1866900"/>
            <a:ext cx="27504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/>
          <p:nvPr/>
        </p:nvSpPr>
        <p:spPr>
          <a:xfrm>
            <a:off x="565547" y="4162425"/>
            <a:ext cx="24765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INSERT</a:t>
            </a:r>
            <a:endParaRPr b="1" sz="1800">
              <a:solidFill>
                <a:srgbClr val="10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1" name="Google Shape;281;p25"/>
          <p:cNvSpPr txBox="1"/>
          <p:nvPr/>
        </p:nvSpPr>
        <p:spPr>
          <a:xfrm>
            <a:off x="613172" y="4752975"/>
            <a:ext cx="23814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Adiciona novos registros à estrutura criada (novas linhas na tabela).</a:t>
            </a:r>
            <a:endParaRPr b="0" sz="1200">
              <a:solidFill>
                <a:srgbClr val="CBD5E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2" name="Google Shape;282;p25"/>
          <p:cNvSpPr txBox="1"/>
          <p:nvPr/>
        </p:nvSpPr>
        <p:spPr>
          <a:xfrm>
            <a:off x="3458766" y="4162425"/>
            <a:ext cx="24765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SELECT</a:t>
            </a:r>
            <a:endParaRPr b="1" sz="1800">
              <a:solidFill>
                <a:srgbClr val="10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" name="Google Shape;283;p25"/>
          <p:cNvSpPr txBox="1"/>
          <p:nvPr/>
        </p:nvSpPr>
        <p:spPr>
          <a:xfrm>
            <a:off x="3506391" y="4752975"/>
            <a:ext cx="23814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O coração do SQL. Busca, projeta e filtra informações específicas.</a:t>
            </a:r>
            <a:endParaRPr b="0" sz="1200">
              <a:solidFill>
                <a:srgbClr val="CBD5E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4" name="Google Shape;284;p25"/>
          <p:cNvSpPr txBox="1"/>
          <p:nvPr/>
        </p:nvSpPr>
        <p:spPr>
          <a:xfrm>
            <a:off x="6351984" y="4162425"/>
            <a:ext cx="24765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UPDATE</a:t>
            </a:r>
            <a:endParaRPr b="1" sz="1800">
              <a:solidFill>
                <a:srgbClr val="10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6399609" y="4752975"/>
            <a:ext cx="23814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Atualiza dados existentes na tabela.</a:t>
            </a:r>
            <a:endParaRPr b="0" sz="1200">
              <a:solidFill>
                <a:srgbClr val="CBD5E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>
            <a:off x="9245203" y="4162425"/>
            <a:ext cx="24765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DELETE</a:t>
            </a:r>
            <a:endParaRPr b="1" sz="1800">
              <a:solidFill>
                <a:srgbClr val="EF444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9292828" y="4752975"/>
            <a:ext cx="23814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Remove registros específicos ou todos os dados de uma tabela.</a:t>
            </a:r>
            <a:endParaRPr b="0" sz="1200">
              <a:solidFill>
                <a:srgbClr val="CBD5E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8" name="Google Shape;288;p25"/>
          <p:cNvPicPr preferRelativeResize="0"/>
          <p:nvPr/>
        </p:nvPicPr>
        <p:blipFill rotWithShape="1">
          <a:blip r:embed="rId7">
            <a:alphaModFix/>
          </a:blip>
          <a:srcRect b="30" l="12270" r="12270" t="20"/>
          <a:stretch/>
        </p:blipFill>
        <p:spPr>
          <a:xfrm>
            <a:off x="628650" y="2066925"/>
            <a:ext cx="2350200" cy="190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5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Comandos </a:t>
            </a:r>
            <a:r>
              <a:rPr b="1" i="0" lang="en-US" sz="36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DML</a:t>
            </a:r>
            <a:r>
              <a:rPr b="1" i="0" lang="en-US" sz="36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Essenciais</a:t>
            </a:r>
            <a:endParaRPr/>
          </a:p>
        </p:txBody>
      </p:sp>
      <p:pic>
        <p:nvPicPr>
          <p:cNvPr id="290" name="Google Shape;290;p25"/>
          <p:cNvPicPr preferRelativeResize="0"/>
          <p:nvPr/>
        </p:nvPicPr>
        <p:blipFill rotWithShape="1">
          <a:blip r:embed="rId8">
            <a:alphaModFix/>
          </a:blip>
          <a:srcRect b="40" l="12390" r="12382" t="30"/>
          <a:stretch/>
        </p:blipFill>
        <p:spPr>
          <a:xfrm>
            <a:off x="3521869" y="2066925"/>
            <a:ext cx="2350200" cy="190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5"/>
          <p:cNvPicPr preferRelativeResize="0"/>
          <p:nvPr/>
        </p:nvPicPr>
        <p:blipFill rotWithShape="1">
          <a:blip r:embed="rId9">
            <a:alphaModFix/>
          </a:blip>
          <a:srcRect b="30" l="12270" r="12270" t="20"/>
          <a:stretch/>
        </p:blipFill>
        <p:spPr>
          <a:xfrm>
            <a:off x="6415088" y="2066925"/>
            <a:ext cx="2350200" cy="190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igital representation of data being erased or deleted from a database table, futuristic dark theme with red warning accents, professional high quality." id="292" name="Google Shape;292;p25"/>
          <p:cNvPicPr preferRelativeResize="0"/>
          <p:nvPr/>
        </p:nvPicPr>
        <p:blipFill rotWithShape="1">
          <a:blip r:embed="rId10">
            <a:alphaModFix/>
          </a:blip>
          <a:srcRect b="0" l="16261" r="14310" t="0"/>
          <a:stretch/>
        </p:blipFill>
        <p:spPr>
          <a:xfrm>
            <a:off x="9308306" y="2066925"/>
            <a:ext cx="2350200" cy="190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6"/>
          <p:cNvSpPr txBox="1"/>
          <p:nvPr/>
        </p:nvSpPr>
        <p:spPr>
          <a:xfrm>
            <a:off x="571500" y="571500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Demonstração Prática: </a:t>
            </a:r>
            <a:r>
              <a:rPr b="1" lang="en-US" sz="36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INSERT</a:t>
            </a:r>
            <a:endParaRPr b="1" sz="36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99" name="Google Shape;299;p26"/>
          <p:cNvGrpSpPr/>
          <p:nvPr/>
        </p:nvGrpSpPr>
        <p:grpSpPr>
          <a:xfrm>
            <a:off x="571500" y="1714500"/>
            <a:ext cx="3552900" cy="4572000"/>
            <a:chOff x="571500" y="1714500"/>
            <a:chExt cx="3552900" cy="4572000"/>
          </a:xfrm>
        </p:grpSpPr>
        <p:sp>
          <p:nvSpPr>
            <p:cNvPr id="300" name="Google Shape;300;p26"/>
            <p:cNvSpPr/>
            <p:nvPr/>
          </p:nvSpPr>
          <p:spPr>
            <a:xfrm>
              <a:off x="571500" y="1714500"/>
              <a:ext cx="3552900" cy="4572000"/>
            </a:xfrm>
            <a:prstGeom prst="roundRect">
              <a:avLst>
                <a:gd fmla="val 428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6"/>
            <p:cNvSpPr txBox="1"/>
            <p:nvPr/>
          </p:nvSpPr>
          <p:spPr>
            <a:xfrm>
              <a:off x="857250" y="2000250"/>
              <a:ext cx="29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1. SINTAXE BÁSICA</a:t>
              </a:r>
              <a:endParaRPr b="1" sz="1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2" name="Google Shape;302;p26"/>
            <p:cNvSpPr txBox="1"/>
            <p:nvPr/>
          </p:nvSpPr>
          <p:spPr>
            <a:xfrm>
              <a:off x="857250" y="2428875"/>
              <a:ext cx="2981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Especificamos a tabela, as colunas e os respectivos valores.</a:t>
              </a:r>
              <a:endParaRPr b="0" sz="11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3" name="Google Shape;303;p26"/>
            <p:cNvSpPr/>
            <p:nvPr/>
          </p:nvSpPr>
          <p:spPr>
            <a:xfrm>
              <a:off x="809625" y="3000375"/>
              <a:ext cx="3076500" cy="3048000"/>
            </a:xfrm>
            <a:prstGeom prst="roundRect">
              <a:avLst>
                <a:gd fmla="val 375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6"/>
            <p:cNvSpPr txBox="1"/>
            <p:nvPr/>
          </p:nvSpPr>
          <p:spPr>
            <a:xfrm>
              <a:off x="1000125" y="3190875"/>
              <a:ext cx="2695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INSERT INTO</a:t>
              </a: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filmes</a:t>
              </a:r>
              <a:endParaRPr b="0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(id, titulo, ano)</a:t>
              </a:r>
              <a:endParaRPr b="0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VALUES</a:t>
              </a:r>
              <a:endParaRPr b="0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375"/>
                </a:spcAft>
                <a:buNone/>
              </a:pP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(1, </a:t>
              </a:r>
              <a:r>
                <a:rPr b="0" lang="en-US" sz="12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'Matrix'</a:t>
              </a: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1999);</a:t>
              </a:r>
              <a:endParaRPr b="0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05" name="Google Shape;305;p26"/>
          <p:cNvGrpSpPr/>
          <p:nvPr/>
        </p:nvGrpSpPr>
        <p:grpSpPr>
          <a:xfrm>
            <a:off x="4314825" y="1714500"/>
            <a:ext cx="3552900" cy="4572000"/>
            <a:chOff x="4314825" y="1714500"/>
            <a:chExt cx="3552900" cy="4572000"/>
          </a:xfrm>
        </p:grpSpPr>
        <p:sp>
          <p:nvSpPr>
            <p:cNvPr id="306" name="Google Shape;306;p26"/>
            <p:cNvSpPr/>
            <p:nvPr/>
          </p:nvSpPr>
          <p:spPr>
            <a:xfrm>
              <a:off x="4314825" y="1714500"/>
              <a:ext cx="3552900" cy="4572000"/>
            </a:xfrm>
            <a:prstGeom prst="roundRect">
              <a:avLst>
                <a:gd fmla="val 428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6"/>
            <p:cNvSpPr txBox="1"/>
            <p:nvPr/>
          </p:nvSpPr>
          <p:spPr>
            <a:xfrm>
              <a:off x="4600575" y="2000250"/>
              <a:ext cx="29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2. MÚLTIPLOS DADOS</a:t>
              </a:r>
              <a:endParaRPr b="1" sz="1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8" name="Google Shape;308;p26"/>
            <p:cNvSpPr txBox="1"/>
            <p:nvPr/>
          </p:nvSpPr>
          <p:spPr>
            <a:xfrm>
              <a:off x="4600575" y="2428875"/>
              <a:ext cx="2981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É possível inserir várias linhas em um único comando SQL.</a:t>
              </a:r>
              <a:endParaRPr b="0" sz="11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9" name="Google Shape;309;p26"/>
            <p:cNvSpPr/>
            <p:nvPr/>
          </p:nvSpPr>
          <p:spPr>
            <a:xfrm>
              <a:off x="4552950" y="3000375"/>
              <a:ext cx="3076500" cy="3048000"/>
            </a:xfrm>
            <a:prstGeom prst="roundRect">
              <a:avLst>
                <a:gd fmla="val 375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6"/>
            <p:cNvSpPr txBox="1"/>
            <p:nvPr/>
          </p:nvSpPr>
          <p:spPr>
            <a:xfrm>
              <a:off x="4743450" y="3190875"/>
              <a:ext cx="2695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INSERT INTO</a:t>
              </a: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filmes</a:t>
              </a:r>
              <a:endParaRPr b="0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(id, titulo, ano)</a:t>
              </a:r>
              <a:endParaRPr b="0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VALUES</a:t>
              </a:r>
              <a:endParaRPr b="0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(2, </a:t>
              </a:r>
              <a:r>
                <a:rPr b="0" lang="en-US" sz="12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'Avatar'</a:t>
              </a: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2009),</a:t>
              </a:r>
              <a:endParaRPr b="0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(3, </a:t>
              </a:r>
              <a:r>
                <a:rPr b="0" lang="en-US" sz="12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'Seven'</a:t>
              </a: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1995);</a:t>
              </a:r>
              <a:endParaRPr b="0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11" name="Google Shape;311;p26"/>
          <p:cNvGrpSpPr/>
          <p:nvPr/>
        </p:nvGrpSpPr>
        <p:grpSpPr>
          <a:xfrm>
            <a:off x="8058150" y="1714500"/>
            <a:ext cx="3552900" cy="4572000"/>
            <a:chOff x="8058150" y="1714500"/>
            <a:chExt cx="3552900" cy="4572000"/>
          </a:xfrm>
        </p:grpSpPr>
        <p:sp>
          <p:nvSpPr>
            <p:cNvPr id="312" name="Google Shape;312;p26"/>
            <p:cNvSpPr/>
            <p:nvPr/>
          </p:nvSpPr>
          <p:spPr>
            <a:xfrm>
              <a:off x="8058150" y="1714500"/>
              <a:ext cx="3552900" cy="4572000"/>
            </a:xfrm>
            <a:prstGeom prst="roundRect">
              <a:avLst>
                <a:gd fmla="val 428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6"/>
            <p:cNvSpPr txBox="1"/>
            <p:nvPr/>
          </p:nvSpPr>
          <p:spPr>
            <a:xfrm>
              <a:off x="8343900" y="2000250"/>
              <a:ext cx="29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3. VISUALIZAÇÃO</a:t>
              </a:r>
              <a:endParaRPr b="1" sz="1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4" name="Google Shape;314;p26"/>
            <p:cNvSpPr txBox="1"/>
            <p:nvPr/>
          </p:nvSpPr>
          <p:spPr>
            <a:xfrm>
              <a:off x="8343900" y="2428875"/>
              <a:ext cx="2981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Os dados agora residem na estrutura física do banco.</a:t>
              </a:r>
              <a:endParaRPr b="0" sz="11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315" name="Google Shape;315;p26"/>
            <p:cNvPicPr preferRelativeResize="0"/>
            <p:nvPr/>
          </p:nvPicPr>
          <p:blipFill rotWithShape="1">
            <a:blip r:embed="rId5">
              <a:alphaModFix/>
            </a:blip>
            <a:srcRect b="466" l="0" r="0" t="466"/>
            <a:stretch/>
          </p:blipFill>
          <p:spPr>
            <a:xfrm>
              <a:off x="8296275" y="3000375"/>
              <a:ext cx="3076500" cy="3048000"/>
            </a:xfrm>
            <a:prstGeom prst="roundRect">
              <a:avLst>
                <a:gd fmla="val 3750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7"/>
          <p:cNvSpPr txBox="1"/>
          <p:nvPr/>
        </p:nvSpPr>
        <p:spPr>
          <a:xfrm>
            <a:off x="571500" y="571500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Demonstração Prática: </a:t>
            </a:r>
            <a:r>
              <a:rPr b="1" lang="en-US" sz="36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SELECT</a:t>
            </a:r>
            <a:endParaRPr b="1" sz="36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22" name="Google Shape;322;p27"/>
          <p:cNvGrpSpPr/>
          <p:nvPr/>
        </p:nvGrpSpPr>
        <p:grpSpPr>
          <a:xfrm>
            <a:off x="571500" y="1714500"/>
            <a:ext cx="3552900" cy="4572000"/>
            <a:chOff x="0" y="0"/>
            <a:chExt cx="3552900" cy="4572000"/>
          </a:xfrm>
        </p:grpSpPr>
        <p:sp>
          <p:nvSpPr>
            <p:cNvPr id="323" name="Google Shape;323;p27"/>
            <p:cNvSpPr/>
            <p:nvPr/>
          </p:nvSpPr>
          <p:spPr>
            <a:xfrm>
              <a:off x="0" y="0"/>
              <a:ext cx="3552900" cy="4572000"/>
            </a:xfrm>
            <a:prstGeom prst="roundRect">
              <a:avLst>
                <a:gd fmla="val 428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7"/>
            <p:cNvSpPr txBox="1"/>
            <p:nvPr/>
          </p:nvSpPr>
          <p:spPr>
            <a:xfrm>
              <a:off x="285750" y="285750"/>
              <a:ext cx="29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1. CONSULTA SIMPLES</a:t>
              </a:r>
              <a:endParaRPr b="1" sz="1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5" name="Google Shape;325;p27"/>
            <p:cNvSpPr txBox="1"/>
            <p:nvPr/>
          </p:nvSpPr>
          <p:spPr>
            <a:xfrm>
              <a:off x="285750" y="714375"/>
              <a:ext cx="2981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Recuperamos colunas específicas ou todos os registros de uma tabela.</a:t>
              </a:r>
              <a:endParaRPr b="0" sz="11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6" name="Google Shape;326;p27"/>
            <p:cNvSpPr/>
            <p:nvPr/>
          </p:nvSpPr>
          <p:spPr>
            <a:xfrm>
              <a:off x="238125" y="1285875"/>
              <a:ext cx="3076500" cy="3048000"/>
            </a:xfrm>
            <a:prstGeom prst="roundRect">
              <a:avLst>
                <a:gd fmla="val 375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7"/>
            <p:cNvSpPr txBox="1"/>
            <p:nvPr/>
          </p:nvSpPr>
          <p:spPr>
            <a:xfrm>
              <a:off x="428625" y="1476375"/>
              <a:ext cx="2695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SELECT</a:t>
              </a:r>
              <a:r>
                <a:rPr b="0" lang="en-US" sz="12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* </a:t>
              </a:r>
              <a:r>
                <a:rPr b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FROM</a:t>
              </a: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filmes;</a:t>
              </a:r>
              <a:endParaRPr b="0" sz="120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SELECT</a:t>
              </a: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titulo, ano</a:t>
              </a:r>
              <a:endParaRPr b="0" sz="120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FROM</a:t>
              </a: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filmes;</a:t>
              </a:r>
              <a:endParaRPr b="0" sz="120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28" name="Google Shape;328;p27"/>
          <p:cNvGrpSpPr/>
          <p:nvPr/>
        </p:nvGrpSpPr>
        <p:grpSpPr>
          <a:xfrm>
            <a:off x="4314825" y="1714500"/>
            <a:ext cx="3552900" cy="4572000"/>
            <a:chOff x="0" y="0"/>
            <a:chExt cx="3552900" cy="4572000"/>
          </a:xfrm>
        </p:grpSpPr>
        <p:sp>
          <p:nvSpPr>
            <p:cNvPr id="329" name="Google Shape;329;p27"/>
            <p:cNvSpPr/>
            <p:nvPr/>
          </p:nvSpPr>
          <p:spPr>
            <a:xfrm>
              <a:off x="0" y="0"/>
              <a:ext cx="3552900" cy="4572000"/>
            </a:xfrm>
            <a:prstGeom prst="roundRect">
              <a:avLst>
                <a:gd fmla="val 428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7"/>
            <p:cNvSpPr txBox="1"/>
            <p:nvPr/>
          </p:nvSpPr>
          <p:spPr>
            <a:xfrm>
              <a:off x="285750" y="285750"/>
              <a:ext cx="29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2. FILTRANDO DADOS</a:t>
              </a:r>
              <a:endParaRPr b="1" sz="1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1" name="Google Shape;331;p27"/>
            <p:cNvSpPr txBox="1"/>
            <p:nvPr/>
          </p:nvSpPr>
          <p:spPr>
            <a:xfrm>
              <a:off x="285750" y="714375"/>
              <a:ext cx="2981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A cláusula </a:t>
              </a:r>
              <a:r>
                <a:rPr b="1" lang="en-US" sz="11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WHERE</a:t>
              </a:r>
              <a:r>
                <a:rPr b="0" lang="en-US" sz="11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 permite filtrar resultados baseados em condições.</a:t>
              </a:r>
              <a:endParaRPr b="0" sz="11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2" name="Google Shape;332;p27"/>
            <p:cNvSpPr/>
            <p:nvPr/>
          </p:nvSpPr>
          <p:spPr>
            <a:xfrm>
              <a:off x="238125" y="1285875"/>
              <a:ext cx="3076500" cy="3048000"/>
            </a:xfrm>
            <a:prstGeom prst="roundRect">
              <a:avLst>
                <a:gd fmla="val 375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7"/>
            <p:cNvSpPr txBox="1"/>
            <p:nvPr/>
          </p:nvSpPr>
          <p:spPr>
            <a:xfrm>
              <a:off x="428625" y="1476375"/>
              <a:ext cx="2695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SELECT</a:t>
              </a:r>
              <a:r>
                <a:rPr b="0" lang="en-US" sz="12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* </a:t>
              </a:r>
              <a:r>
                <a:rPr b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FROM</a:t>
              </a: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filmes</a:t>
              </a:r>
              <a:endParaRPr b="0" sz="120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WHERE</a:t>
              </a: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ano &gt; 2000;</a:t>
              </a:r>
              <a:endParaRPr b="0" sz="120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SELECT</a:t>
              </a:r>
              <a:r>
                <a:rPr b="0" lang="en-US" sz="12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* </a:t>
              </a:r>
              <a:r>
                <a:rPr b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FROM</a:t>
              </a: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filmes</a:t>
              </a:r>
              <a:endParaRPr b="0" sz="120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WHERE</a:t>
              </a: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titulo = </a:t>
              </a:r>
              <a:r>
                <a:rPr b="0" lang="en-US" sz="12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'Matrix'</a:t>
              </a: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0" sz="120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34" name="Google Shape;334;p27"/>
          <p:cNvGrpSpPr/>
          <p:nvPr/>
        </p:nvGrpSpPr>
        <p:grpSpPr>
          <a:xfrm>
            <a:off x="8058150" y="1714500"/>
            <a:ext cx="3552900" cy="4572000"/>
            <a:chOff x="0" y="0"/>
            <a:chExt cx="3552900" cy="4572000"/>
          </a:xfrm>
        </p:grpSpPr>
        <p:sp>
          <p:nvSpPr>
            <p:cNvPr id="335" name="Google Shape;335;p27"/>
            <p:cNvSpPr/>
            <p:nvPr/>
          </p:nvSpPr>
          <p:spPr>
            <a:xfrm>
              <a:off x="0" y="0"/>
              <a:ext cx="3552900" cy="4572000"/>
            </a:xfrm>
            <a:prstGeom prst="roundRect">
              <a:avLst>
                <a:gd fmla="val 428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7"/>
            <p:cNvSpPr txBox="1"/>
            <p:nvPr/>
          </p:nvSpPr>
          <p:spPr>
            <a:xfrm>
              <a:off x="285750" y="285750"/>
              <a:ext cx="29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3. RESULTADO ESPERADO</a:t>
              </a:r>
              <a:endParaRPr b="1" sz="1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7" name="Google Shape;337;p27"/>
            <p:cNvSpPr txBox="1"/>
            <p:nvPr/>
          </p:nvSpPr>
          <p:spPr>
            <a:xfrm>
              <a:off x="285750" y="714375"/>
              <a:ext cx="2981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O SGBD retorna uma tabela virtual com os dados processados.</a:t>
              </a:r>
              <a:endParaRPr b="0" sz="11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descr="A high-quality UI screenshot of a database management tool showing a table with film titles and years like Matrix 1999 and Avatar 2009. Dark futuristic theme with green and blue accents." id="338" name="Google Shape;338;p27"/>
            <p:cNvPicPr preferRelativeResize="0"/>
            <p:nvPr/>
          </p:nvPicPr>
          <p:blipFill rotWithShape="1">
            <a:blip r:embed="rId4">
              <a:alphaModFix/>
            </a:blip>
            <a:srcRect b="466" l="0" r="0" t="466"/>
            <a:stretch/>
          </p:blipFill>
          <p:spPr>
            <a:xfrm>
              <a:off x="238125" y="1285875"/>
              <a:ext cx="3076500" cy="3048000"/>
            </a:xfrm>
            <a:prstGeom prst="roundRect">
              <a:avLst>
                <a:gd fmla="val 3750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34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8"/>
          <p:cNvSpPr txBox="1"/>
          <p:nvPr/>
        </p:nvSpPr>
        <p:spPr>
          <a:xfrm>
            <a:off x="571500" y="571500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Demonstração Prática: </a:t>
            </a:r>
            <a:r>
              <a:rPr b="1" lang="en-US" sz="36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UPDATE</a:t>
            </a:r>
            <a:endParaRPr b="1" sz="36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46" name="Google Shape;346;p28"/>
          <p:cNvGrpSpPr/>
          <p:nvPr/>
        </p:nvGrpSpPr>
        <p:grpSpPr>
          <a:xfrm>
            <a:off x="571500" y="1714500"/>
            <a:ext cx="3552900" cy="4381500"/>
            <a:chOff x="571500" y="1714500"/>
            <a:chExt cx="3552900" cy="4381500"/>
          </a:xfrm>
        </p:grpSpPr>
        <p:sp>
          <p:nvSpPr>
            <p:cNvPr id="347" name="Google Shape;347;p28"/>
            <p:cNvSpPr/>
            <p:nvPr/>
          </p:nvSpPr>
          <p:spPr>
            <a:xfrm>
              <a:off x="571500" y="1714500"/>
              <a:ext cx="3552900" cy="4381500"/>
            </a:xfrm>
            <a:prstGeom prst="roundRect">
              <a:avLst>
                <a:gd fmla="val 4288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 txBox="1"/>
            <p:nvPr/>
          </p:nvSpPr>
          <p:spPr>
            <a:xfrm>
              <a:off x="857250" y="2000250"/>
              <a:ext cx="29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1. ATUALIZAÇÃO SIMPLES</a:t>
              </a:r>
              <a:endParaRPr b="1" sz="1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9" name="Google Shape;349;p28"/>
            <p:cNvSpPr txBox="1"/>
            <p:nvPr/>
          </p:nvSpPr>
          <p:spPr>
            <a:xfrm>
              <a:off x="857250" y="2428875"/>
              <a:ext cx="2981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Alteramos valores de registros específicos utilizando filtros precisos.</a:t>
              </a:r>
              <a:endParaRPr b="0" sz="11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0" name="Google Shape;350;p28"/>
            <p:cNvSpPr/>
            <p:nvPr/>
          </p:nvSpPr>
          <p:spPr>
            <a:xfrm>
              <a:off x="809625" y="3000375"/>
              <a:ext cx="3076500" cy="2857500"/>
            </a:xfrm>
            <a:prstGeom prst="roundRect">
              <a:avLst>
                <a:gd fmla="val 4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8"/>
            <p:cNvSpPr txBox="1"/>
            <p:nvPr/>
          </p:nvSpPr>
          <p:spPr>
            <a:xfrm>
              <a:off x="1000125" y="3190875"/>
              <a:ext cx="26955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UPDATE filmes</a:t>
              </a:r>
              <a:endParaRPr b="0" i="0" sz="120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i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SET ano = </a:t>
              </a:r>
              <a:r>
                <a:rPr b="0" i="0" lang="en-US" sz="12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2024</a:t>
              </a:r>
              <a:endParaRPr b="0" i="0" sz="120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WHERE id = </a:t>
              </a:r>
              <a:r>
                <a:rPr b="0" i="0" lang="en-US" sz="12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b="0" i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0" i="0" sz="120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52" name="Google Shape;352;p28"/>
          <p:cNvGrpSpPr/>
          <p:nvPr/>
        </p:nvGrpSpPr>
        <p:grpSpPr>
          <a:xfrm>
            <a:off x="4314825" y="1714500"/>
            <a:ext cx="3552900" cy="4381500"/>
            <a:chOff x="4314825" y="1714500"/>
            <a:chExt cx="3552900" cy="4381500"/>
          </a:xfrm>
        </p:grpSpPr>
        <p:sp>
          <p:nvSpPr>
            <p:cNvPr id="353" name="Google Shape;353;p28"/>
            <p:cNvSpPr/>
            <p:nvPr/>
          </p:nvSpPr>
          <p:spPr>
            <a:xfrm>
              <a:off x="4314825" y="1714500"/>
              <a:ext cx="3552900" cy="4381500"/>
            </a:xfrm>
            <a:prstGeom prst="roundRect">
              <a:avLst>
                <a:gd fmla="val 4288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8"/>
            <p:cNvSpPr txBox="1"/>
            <p:nvPr/>
          </p:nvSpPr>
          <p:spPr>
            <a:xfrm>
              <a:off x="4600575" y="2000250"/>
              <a:ext cx="29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2. MÚLTIPLOS CAMPOS</a:t>
              </a:r>
              <a:endParaRPr b="1" sz="1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5" name="Google Shape;355;p28"/>
            <p:cNvSpPr txBox="1"/>
            <p:nvPr/>
          </p:nvSpPr>
          <p:spPr>
            <a:xfrm>
              <a:off x="4600575" y="2428875"/>
              <a:ext cx="2981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É possível atualizar várias colunas de uma vez em um único comando.</a:t>
              </a:r>
              <a:endParaRPr b="0" sz="11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6" name="Google Shape;356;p28"/>
            <p:cNvSpPr/>
            <p:nvPr/>
          </p:nvSpPr>
          <p:spPr>
            <a:xfrm>
              <a:off x="4552950" y="3000375"/>
              <a:ext cx="3076500" cy="2857500"/>
            </a:xfrm>
            <a:prstGeom prst="roundRect">
              <a:avLst>
                <a:gd fmla="val 4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8"/>
            <p:cNvSpPr txBox="1"/>
            <p:nvPr/>
          </p:nvSpPr>
          <p:spPr>
            <a:xfrm>
              <a:off x="4743450" y="3190875"/>
              <a:ext cx="26955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UPDATE filmes</a:t>
              </a:r>
              <a:endParaRPr b="0" i="0" sz="120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i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SET titulo = </a:t>
              </a:r>
              <a:r>
                <a:rPr b="0" i="0" lang="en-US" sz="12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'Neo Matrix'</a:t>
              </a:r>
              <a:r>
                <a:rPr b="0" i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i="0" sz="120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ano = </a:t>
              </a:r>
              <a:r>
                <a:rPr b="0" i="0" lang="en-US" sz="12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2025</a:t>
              </a:r>
              <a:endParaRPr b="0" i="0" sz="120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WHERE titulo = </a:t>
              </a:r>
              <a:r>
                <a:rPr b="0" i="0" lang="en-US" sz="12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'Matrix'</a:t>
              </a:r>
              <a:r>
                <a:rPr b="0" i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0" i="0" sz="120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58" name="Google Shape;358;p28"/>
          <p:cNvGrpSpPr/>
          <p:nvPr/>
        </p:nvGrpSpPr>
        <p:grpSpPr>
          <a:xfrm>
            <a:off x="8058150" y="1714500"/>
            <a:ext cx="3552900" cy="4381500"/>
            <a:chOff x="8058150" y="1714500"/>
            <a:chExt cx="3552900" cy="4381500"/>
          </a:xfrm>
        </p:grpSpPr>
        <p:sp>
          <p:nvSpPr>
            <p:cNvPr id="359" name="Google Shape;359;p28"/>
            <p:cNvSpPr/>
            <p:nvPr/>
          </p:nvSpPr>
          <p:spPr>
            <a:xfrm>
              <a:off x="8058150" y="1714500"/>
              <a:ext cx="3552900" cy="4381500"/>
            </a:xfrm>
            <a:prstGeom prst="roundRect">
              <a:avLst>
                <a:gd fmla="val 4288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8"/>
            <p:cNvSpPr txBox="1"/>
            <p:nvPr/>
          </p:nvSpPr>
          <p:spPr>
            <a:xfrm>
              <a:off x="8343900" y="2000250"/>
              <a:ext cx="29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3. ESTADO FINAL</a:t>
              </a:r>
              <a:endParaRPr b="1" sz="1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61" name="Google Shape;361;p28"/>
            <p:cNvSpPr txBox="1"/>
            <p:nvPr/>
          </p:nvSpPr>
          <p:spPr>
            <a:xfrm>
              <a:off x="8343900" y="2428875"/>
              <a:ext cx="2981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O banco de dados reflete as alterações após o processamento.</a:t>
              </a:r>
              <a:endParaRPr b="0" sz="11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62" name="Google Shape;362;p28"/>
            <p:cNvGrpSpPr/>
            <p:nvPr/>
          </p:nvGrpSpPr>
          <p:grpSpPr>
            <a:xfrm>
              <a:off x="8296275" y="3000375"/>
              <a:ext cx="3076500" cy="2857500"/>
              <a:chOff x="0" y="0"/>
              <a:chExt cx="3076500" cy="2857500"/>
            </a:xfrm>
          </p:grpSpPr>
          <p:sp>
            <p:nvSpPr>
              <p:cNvPr id="363" name="Google Shape;363;p28"/>
              <p:cNvSpPr/>
              <p:nvPr/>
            </p:nvSpPr>
            <p:spPr>
              <a:xfrm>
                <a:off x="0" y="0"/>
                <a:ext cx="3076500" cy="2857500"/>
              </a:xfrm>
              <a:prstGeom prst="roundRect">
                <a:avLst>
                  <a:gd fmla="val 400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64" name="Google Shape;364;p28"/>
              <p:cNvPicPr preferRelativeResize="0"/>
              <p:nvPr/>
            </p:nvPicPr>
            <p:blipFill rotWithShape="1">
              <a:blip r:embed="rId4">
                <a:alphaModFix/>
              </a:blip>
              <a:srcRect b="3566" l="0" r="0" t="3557"/>
              <a:stretch/>
            </p:blipFill>
            <p:spPr>
              <a:xfrm>
                <a:off x="0" y="0"/>
                <a:ext cx="3076500" cy="2857500"/>
              </a:xfrm>
              <a:prstGeom prst="roundRect">
                <a:avLst>
                  <a:gd fmla="val 4000" name="adj"/>
                </a:avLst>
              </a:prstGeom>
              <a:noFill/>
              <a:ln>
                <a:noFill/>
              </a:ln>
            </p:spPr>
          </p:pic>
        </p:grpSp>
      </p:grpSp>
      <p:grpSp>
        <p:nvGrpSpPr>
          <p:cNvPr id="365" name="Google Shape;365;p28"/>
          <p:cNvGrpSpPr/>
          <p:nvPr/>
        </p:nvGrpSpPr>
        <p:grpSpPr>
          <a:xfrm>
            <a:off x="571500" y="6334125"/>
            <a:ext cx="11049000" cy="381000"/>
            <a:chOff x="571500" y="6334125"/>
            <a:chExt cx="11049000" cy="381000"/>
          </a:xfrm>
        </p:grpSpPr>
        <p:sp>
          <p:nvSpPr>
            <p:cNvPr id="366" name="Google Shape;366;p28"/>
            <p:cNvSpPr/>
            <p:nvPr/>
          </p:nvSpPr>
          <p:spPr>
            <a:xfrm>
              <a:off x="571500" y="6334125"/>
              <a:ext cx="11049000" cy="381000"/>
            </a:xfrm>
            <a:prstGeom prst="roundRect">
              <a:avLst>
                <a:gd fmla="val 20000" name="adj"/>
              </a:avLst>
            </a:prstGeom>
            <a:solidFill>
              <a:srgbClr val="7F1D1D"/>
            </a:solidFill>
            <a:ln cap="flat" cmpd="sng" w="95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8"/>
            <p:cNvSpPr txBox="1"/>
            <p:nvPr/>
          </p:nvSpPr>
          <p:spPr>
            <a:xfrm>
              <a:off x="571500" y="6334125"/>
              <a:ext cx="1104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 </a:t>
              </a:r>
              <a:r>
                <a:rPr b="1" lang="en-US" sz="1200">
                  <a:solidFill>
                    <a:srgbClr val="FCA5A5"/>
                  </a:solidFill>
                  <a:latin typeface="Poppins"/>
                  <a:ea typeface="Poppins"/>
                  <a:cs typeface="Poppins"/>
                  <a:sym typeface="Poppins"/>
                </a:rPr>
                <a:t>PERIGO: Nunca esqueça a cláusula </a:t>
              </a:r>
              <a:r>
                <a:rPr b="1" lang="en-US" sz="12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WHERE</a:t>
              </a:r>
              <a:r>
                <a:rPr b="1" lang="en-US" sz="1200">
                  <a:solidFill>
                    <a:srgbClr val="FCA5A5"/>
                  </a:solidFill>
                  <a:latin typeface="Poppins"/>
                  <a:ea typeface="Poppins"/>
                  <a:cs typeface="Poppins"/>
                  <a:sym typeface="Poppins"/>
                </a:rPr>
                <a:t>! Sem ela, </a:t>
              </a:r>
              <a:r>
                <a:rPr b="1" lang="en-US" sz="1200" u="sng">
                  <a:solidFill>
                    <a:srgbClr val="FCA5A5"/>
                  </a:solidFill>
                  <a:latin typeface="Poppins"/>
                  <a:ea typeface="Poppins"/>
                  <a:cs typeface="Poppins"/>
                  <a:sym typeface="Poppins"/>
                </a:rPr>
                <a:t>TODOS</a:t>
              </a:r>
              <a:r>
                <a:rPr b="1" lang="en-US" sz="1200">
                  <a:solidFill>
                    <a:srgbClr val="FCA5A5"/>
                  </a:solidFill>
                  <a:latin typeface="Poppins"/>
                  <a:ea typeface="Poppins"/>
                  <a:cs typeface="Poppins"/>
                  <a:sym typeface="Poppins"/>
                </a:rPr>
                <a:t> os registros da tabela serão atualizados.</a:t>
              </a:r>
              <a:endParaRPr b="0" sz="14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3" name="Google Shape;37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9"/>
          <p:cNvSpPr txBox="1"/>
          <p:nvPr/>
        </p:nvSpPr>
        <p:spPr>
          <a:xfrm>
            <a:off x="571500" y="571500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Demonstração Prática: </a:t>
            </a:r>
            <a:r>
              <a:rPr b="1" lang="en-US" sz="36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DELETE</a:t>
            </a:r>
            <a:endParaRPr b="1" sz="36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75" name="Google Shape;375;p29"/>
          <p:cNvGrpSpPr/>
          <p:nvPr/>
        </p:nvGrpSpPr>
        <p:grpSpPr>
          <a:xfrm>
            <a:off x="571500" y="1714500"/>
            <a:ext cx="3552900" cy="4381500"/>
            <a:chOff x="571500" y="1714500"/>
            <a:chExt cx="3552900" cy="4381500"/>
          </a:xfrm>
        </p:grpSpPr>
        <p:sp>
          <p:nvSpPr>
            <p:cNvPr id="376" name="Google Shape;376;p29"/>
            <p:cNvSpPr/>
            <p:nvPr/>
          </p:nvSpPr>
          <p:spPr>
            <a:xfrm>
              <a:off x="571500" y="1714500"/>
              <a:ext cx="3552900" cy="4381500"/>
            </a:xfrm>
            <a:prstGeom prst="roundRect">
              <a:avLst>
                <a:gd fmla="val 4288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9"/>
            <p:cNvSpPr txBox="1"/>
            <p:nvPr/>
          </p:nvSpPr>
          <p:spPr>
            <a:xfrm>
              <a:off x="857250" y="2000250"/>
              <a:ext cx="2981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1. REMOÇÃO SIMPLES</a:t>
              </a:r>
              <a:endParaRPr b="1" sz="1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8" name="Google Shape;378;p29"/>
            <p:cNvSpPr txBox="1"/>
            <p:nvPr/>
          </p:nvSpPr>
          <p:spPr>
            <a:xfrm>
              <a:off x="857250" y="2428875"/>
              <a:ext cx="2981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Excluímos registros específicos baseados em uma condição WHERE única.</a:t>
              </a:r>
              <a:endParaRPr b="0" sz="11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809625" y="3000375"/>
              <a:ext cx="3076500" cy="2857500"/>
            </a:xfrm>
            <a:prstGeom prst="roundRect">
              <a:avLst>
                <a:gd fmla="val 4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9"/>
            <p:cNvSpPr txBox="1"/>
            <p:nvPr/>
          </p:nvSpPr>
          <p:spPr>
            <a:xfrm>
              <a:off x="1000125" y="3190875"/>
              <a:ext cx="26955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DELETE FROM</a:t>
              </a:r>
              <a:r>
                <a:rPr b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filmes</a:t>
              </a:r>
              <a:endParaRPr b="0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WHERE</a:t>
              </a:r>
              <a:r>
                <a:rPr b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id = </a:t>
              </a:r>
              <a:r>
                <a:rPr b="0" lang="en-US" sz="12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</a:t>
              </a:r>
              <a:r>
                <a:rPr b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0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81" name="Google Shape;381;p29"/>
          <p:cNvGrpSpPr/>
          <p:nvPr/>
        </p:nvGrpSpPr>
        <p:grpSpPr>
          <a:xfrm>
            <a:off x="4314825" y="1714500"/>
            <a:ext cx="3552900" cy="4381500"/>
            <a:chOff x="4314825" y="1714500"/>
            <a:chExt cx="3552900" cy="4381500"/>
          </a:xfrm>
        </p:grpSpPr>
        <p:sp>
          <p:nvSpPr>
            <p:cNvPr id="382" name="Google Shape;382;p29"/>
            <p:cNvSpPr/>
            <p:nvPr/>
          </p:nvSpPr>
          <p:spPr>
            <a:xfrm>
              <a:off x="4314825" y="1714500"/>
              <a:ext cx="3552900" cy="4381500"/>
            </a:xfrm>
            <a:prstGeom prst="roundRect">
              <a:avLst>
                <a:gd fmla="val 4288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9"/>
            <p:cNvSpPr txBox="1"/>
            <p:nvPr/>
          </p:nvSpPr>
          <p:spPr>
            <a:xfrm>
              <a:off x="4600575" y="2000250"/>
              <a:ext cx="2981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2. FILTROS COMPLEXOS</a:t>
              </a:r>
              <a:endParaRPr b="1" sz="1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84" name="Google Shape;384;p29"/>
            <p:cNvSpPr txBox="1"/>
            <p:nvPr/>
          </p:nvSpPr>
          <p:spPr>
            <a:xfrm>
              <a:off x="4600575" y="2428875"/>
              <a:ext cx="2981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Podemos remover múltiplos registros que atendam a critérios combinados.</a:t>
              </a:r>
              <a:endParaRPr b="0" sz="11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4552950" y="3000375"/>
              <a:ext cx="3076500" cy="2857500"/>
            </a:xfrm>
            <a:prstGeom prst="roundRect">
              <a:avLst>
                <a:gd fmla="val 4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9"/>
            <p:cNvSpPr txBox="1"/>
            <p:nvPr/>
          </p:nvSpPr>
          <p:spPr>
            <a:xfrm>
              <a:off x="4743450" y="3190875"/>
              <a:ext cx="26955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DELETE FROM</a:t>
              </a:r>
              <a:r>
                <a:rPr b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filmes</a:t>
              </a:r>
              <a:endParaRPr b="0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WHERE</a:t>
              </a:r>
              <a:r>
                <a:rPr b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ano &lt; </a:t>
              </a:r>
              <a:r>
                <a:rPr b="0" lang="en-US" sz="12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2000</a:t>
              </a:r>
              <a:endParaRPr b="0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AND</a:t>
              </a:r>
              <a:r>
                <a:rPr b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genero = </a:t>
              </a:r>
              <a:r>
                <a:rPr b="0" lang="en-US" sz="12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'Terror'</a:t>
              </a:r>
              <a:r>
                <a:rPr b="0" lang="en-US" sz="12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0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87" name="Google Shape;387;p29"/>
          <p:cNvGrpSpPr/>
          <p:nvPr/>
        </p:nvGrpSpPr>
        <p:grpSpPr>
          <a:xfrm>
            <a:off x="8058150" y="1714500"/>
            <a:ext cx="3552900" cy="4381500"/>
            <a:chOff x="8058150" y="1714500"/>
            <a:chExt cx="3552900" cy="4381500"/>
          </a:xfrm>
        </p:grpSpPr>
        <p:sp>
          <p:nvSpPr>
            <p:cNvPr id="388" name="Google Shape;388;p29"/>
            <p:cNvSpPr/>
            <p:nvPr/>
          </p:nvSpPr>
          <p:spPr>
            <a:xfrm>
              <a:off x="8058150" y="1714500"/>
              <a:ext cx="3552900" cy="4381500"/>
            </a:xfrm>
            <a:prstGeom prst="roundRect">
              <a:avLst>
                <a:gd fmla="val 4288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9"/>
            <p:cNvSpPr txBox="1"/>
            <p:nvPr/>
          </p:nvSpPr>
          <p:spPr>
            <a:xfrm>
              <a:off x="8343900" y="2000250"/>
              <a:ext cx="2981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3. IMPACTO FINAL</a:t>
              </a:r>
              <a:endParaRPr b="1" sz="1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90" name="Google Shape;390;p29"/>
            <p:cNvSpPr txBox="1"/>
            <p:nvPr/>
          </p:nvSpPr>
          <p:spPr>
            <a:xfrm>
              <a:off x="8343900" y="2428875"/>
              <a:ext cx="2981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O comando remove as tuplas da estrutura física permanentemente.</a:t>
              </a:r>
              <a:endParaRPr b="0" sz="11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8296275" y="3000375"/>
              <a:ext cx="3076500" cy="2857500"/>
            </a:xfrm>
            <a:prstGeom prst="roundRect">
              <a:avLst>
                <a:gd fmla="val 4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92" name="Google Shape;392;p29"/>
            <p:cNvPicPr preferRelativeResize="0"/>
            <p:nvPr/>
          </p:nvPicPr>
          <p:blipFill rotWithShape="1">
            <a:blip r:embed="rId4">
              <a:alphaModFix/>
            </a:blip>
            <a:srcRect b="3566" l="0" r="0" t="3557"/>
            <a:stretch/>
          </p:blipFill>
          <p:spPr>
            <a:xfrm>
              <a:off x="8296275" y="3000375"/>
              <a:ext cx="3076500" cy="2857500"/>
            </a:xfrm>
            <a:prstGeom prst="roundRect">
              <a:avLst>
                <a:gd fmla="val 4000" name="adj"/>
              </a:avLst>
            </a:prstGeom>
            <a:noFill/>
            <a:ln>
              <a:noFill/>
            </a:ln>
          </p:spPr>
        </p:pic>
      </p:grpSp>
      <p:grpSp>
        <p:nvGrpSpPr>
          <p:cNvPr id="393" name="Google Shape;393;p29"/>
          <p:cNvGrpSpPr/>
          <p:nvPr/>
        </p:nvGrpSpPr>
        <p:grpSpPr>
          <a:xfrm>
            <a:off x="571500" y="6334125"/>
            <a:ext cx="11049000" cy="381000"/>
            <a:chOff x="571500" y="6334125"/>
            <a:chExt cx="11049000" cy="381000"/>
          </a:xfrm>
        </p:grpSpPr>
        <p:sp>
          <p:nvSpPr>
            <p:cNvPr id="394" name="Google Shape;394;p29"/>
            <p:cNvSpPr/>
            <p:nvPr/>
          </p:nvSpPr>
          <p:spPr>
            <a:xfrm>
              <a:off x="571500" y="6334125"/>
              <a:ext cx="11049000" cy="381000"/>
            </a:xfrm>
            <a:prstGeom prst="roundRect">
              <a:avLst>
                <a:gd fmla="val 20000" name="adj"/>
              </a:avLst>
            </a:prstGeom>
            <a:solidFill>
              <a:srgbClr val="7F1D1D"/>
            </a:solidFill>
            <a:ln cap="flat" cmpd="sng" w="95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9"/>
            <p:cNvSpPr txBox="1"/>
            <p:nvPr/>
          </p:nvSpPr>
          <p:spPr>
            <a:xfrm>
              <a:off x="571500" y="6334125"/>
              <a:ext cx="1104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r>
                <a:rPr b="1" lang="en-US" sz="1200">
                  <a:solidFill>
                    <a:srgbClr val="FCA5A5"/>
                  </a:solidFill>
                  <a:latin typeface="Poppins"/>
                  <a:ea typeface="Poppins"/>
                  <a:cs typeface="Poppins"/>
                  <a:sym typeface="Poppins"/>
                </a:rPr>
                <a:t> PERIGO: Nunca esqueça a cláusula </a:t>
              </a:r>
              <a:r>
                <a:rPr b="1" lang="en-US" sz="12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WHERE</a:t>
              </a:r>
              <a:r>
                <a:rPr b="1" lang="en-US" sz="1200">
                  <a:solidFill>
                    <a:srgbClr val="FCA5A5"/>
                  </a:solidFill>
                  <a:latin typeface="Poppins"/>
                  <a:ea typeface="Poppins"/>
                  <a:cs typeface="Poppins"/>
                  <a:sym typeface="Poppins"/>
                </a:rPr>
                <a:t>! Sem ela, </a:t>
              </a:r>
              <a:r>
                <a:rPr b="1" lang="en-US" sz="1200" u="sng">
                  <a:solidFill>
                    <a:srgbClr val="FCA5A5"/>
                  </a:solidFill>
                  <a:latin typeface="Poppins"/>
                  <a:ea typeface="Poppins"/>
                  <a:cs typeface="Poppins"/>
                  <a:sym typeface="Poppins"/>
                </a:rPr>
                <a:t>TODOS</a:t>
              </a:r>
              <a:r>
                <a:rPr b="1" lang="en-US" sz="1200">
                  <a:solidFill>
                    <a:srgbClr val="FCA5A5"/>
                  </a:solidFill>
                  <a:latin typeface="Poppins"/>
                  <a:ea typeface="Poppins"/>
                  <a:cs typeface="Poppins"/>
                  <a:sym typeface="Poppins"/>
                </a:rPr>
                <a:t> os registros da tabela serão excluídos.</a:t>
              </a:r>
              <a:endParaRPr b="1" sz="1200">
                <a:solidFill>
                  <a:srgbClr val="FCA5A5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0"/>
          <p:cNvSpPr txBox="1"/>
          <p:nvPr/>
        </p:nvSpPr>
        <p:spPr>
          <a:xfrm>
            <a:off x="571500" y="571500"/>
            <a:ext cx="1103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DDL</a:t>
            </a:r>
            <a:r>
              <a:rPr b="1" i="0" lang="en-US" sz="36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vs </a:t>
            </a:r>
            <a:r>
              <a:rPr b="1" i="0" lang="en-US" sz="36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DML</a:t>
            </a:r>
            <a:endParaRPr/>
          </a:p>
        </p:txBody>
      </p:sp>
      <p:pic>
        <p:nvPicPr>
          <p:cNvPr id="401" name="Google Shape;40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25" y="2027350"/>
            <a:ext cx="11958951" cy="388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6" name="Google Shape;40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7" name="Google Shape;407;p31"/>
          <p:cNvGrpSpPr/>
          <p:nvPr/>
        </p:nvGrpSpPr>
        <p:grpSpPr>
          <a:xfrm>
            <a:off x="561975" y="3324225"/>
            <a:ext cx="5257800" cy="2867025"/>
            <a:chOff x="561975" y="3324225"/>
            <a:chExt cx="5257800" cy="2867025"/>
          </a:xfrm>
        </p:grpSpPr>
        <p:pic>
          <p:nvPicPr>
            <p:cNvPr descr="A professional workspace of a backend developer with a laptop showing lines of code in a dark environment, futuristic green accents, high quality, cinematic lighting." id="408" name="Google Shape;408;p31"/>
            <p:cNvPicPr preferRelativeResize="0"/>
            <p:nvPr/>
          </p:nvPicPr>
          <p:blipFill rotWithShape="1">
            <a:blip r:embed="rId4">
              <a:alphaModFix/>
            </a:blip>
            <a:srcRect b="1522" l="0" r="0" t="1513"/>
            <a:stretch/>
          </p:blipFill>
          <p:spPr>
            <a:xfrm>
              <a:off x="571500" y="3333750"/>
              <a:ext cx="5238900" cy="2857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pic>
          <p:nvPicPr>
            <p:cNvPr id="409" name="Google Shape;409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1975" y="3324225"/>
              <a:ext cx="5257800" cy="1819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0" name="Google Shape;410;p31"/>
          <p:cNvSpPr txBox="1"/>
          <p:nvPr/>
        </p:nvSpPr>
        <p:spPr>
          <a:xfrm>
            <a:off x="571500" y="571500"/>
            <a:ext cx="11049000" cy="67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Desafio Prático: </a:t>
            </a:r>
            <a:r>
              <a:rPr b="1" lang="en-US" sz="4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IFCE-Flix</a:t>
            </a:r>
            <a:endParaRPr b="1" sz="44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1" name="Google Shape;411;p31"/>
          <p:cNvSpPr txBox="1"/>
          <p:nvPr/>
        </p:nvSpPr>
        <p:spPr>
          <a:xfrm>
            <a:off x="571500" y="1619250"/>
            <a:ext cx="52389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É hora do Live Coding!</a:t>
            </a:r>
            <a:endParaRPr b="1" sz="1800">
              <a:solidFill>
                <a:srgbClr val="10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2" name="Google Shape;412;p31"/>
          <p:cNvSpPr txBox="1"/>
          <p:nvPr/>
        </p:nvSpPr>
        <p:spPr>
          <a:xfrm>
            <a:off x="571500" y="2095500"/>
            <a:ext cx="52389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Abram seus simuladores. Vamos atuar como desenvolvedores Back-end criando a fundação de um novo serviço de streaming.</a:t>
            </a:r>
            <a:endParaRPr b="0" sz="1400">
              <a:solidFill>
                <a:srgbClr val="CBD5E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13" name="Google Shape;413;p31"/>
          <p:cNvGrpSpPr/>
          <p:nvPr/>
        </p:nvGrpSpPr>
        <p:grpSpPr>
          <a:xfrm>
            <a:off x="6191250" y="1619250"/>
            <a:ext cx="5429400" cy="1178052"/>
            <a:chOff x="6191250" y="1619250"/>
            <a:chExt cx="5429400" cy="1178052"/>
          </a:xfrm>
        </p:grpSpPr>
        <p:sp>
          <p:nvSpPr>
            <p:cNvPr id="414" name="Google Shape;414;p31"/>
            <p:cNvSpPr/>
            <p:nvPr/>
          </p:nvSpPr>
          <p:spPr>
            <a:xfrm>
              <a:off x="6191250" y="1619250"/>
              <a:ext cx="54294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1"/>
            <p:cNvSpPr txBox="1"/>
            <p:nvPr/>
          </p:nvSpPr>
          <p:spPr>
            <a:xfrm>
              <a:off x="6381750" y="1654302"/>
              <a:ext cx="476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16" name="Google Shape;416;p31"/>
            <p:cNvSpPr txBox="1"/>
            <p:nvPr/>
          </p:nvSpPr>
          <p:spPr>
            <a:xfrm>
              <a:off x="6953250" y="1619250"/>
              <a:ext cx="4476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Passo 1</a:t>
              </a:r>
              <a:endParaRPr b="1" sz="11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DDL - Criar Tabela `filmes`</a:t>
              </a:r>
              <a:endParaRPr b="1" sz="14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17" name="Google Shape;417;p31"/>
          <p:cNvGrpSpPr/>
          <p:nvPr/>
        </p:nvGrpSpPr>
        <p:grpSpPr>
          <a:xfrm>
            <a:off x="6191250" y="2952750"/>
            <a:ext cx="5429400" cy="1178052"/>
            <a:chOff x="6191250" y="2952750"/>
            <a:chExt cx="5429400" cy="1178052"/>
          </a:xfrm>
        </p:grpSpPr>
        <p:sp>
          <p:nvSpPr>
            <p:cNvPr id="418" name="Google Shape;418;p31"/>
            <p:cNvSpPr/>
            <p:nvPr/>
          </p:nvSpPr>
          <p:spPr>
            <a:xfrm>
              <a:off x="6191250" y="2952750"/>
              <a:ext cx="54294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1"/>
            <p:cNvSpPr txBox="1"/>
            <p:nvPr/>
          </p:nvSpPr>
          <p:spPr>
            <a:xfrm>
              <a:off x="6381750" y="2987802"/>
              <a:ext cx="476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add_to_photos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20" name="Google Shape;420;p31"/>
            <p:cNvSpPr txBox="1"/>
            <p:nvPr/>
          </p:nvSpPr>
          <p:spPr>
            <a:xfrm>
              <a:off x="6953250" y="2952750"/>
              <a:ext cx="4476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Passo 2</a:t>
              </a:r>
              <a:endParaRPr b="1" sz="11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DML - Inserir o catálogo base</a:t>
              </a:r>
              <a:endParaRPr b="1" sz="14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21" name="Google Shape;421;p31"/>
          <p:cNvGrpSpPr/>
          <p:nvPr/>
        </p:nvGrpSpPr>
        <p:grpSpPr>
          <a:xfrm>
            <a:off x="6191250" y="4286250"/>
            <a:ext cx="5429400" cy="1178052"/>
            <a:chOff x="6191250" y="4286250"/>
            <a:chExt cx="5429400" cy="1178052"/>
          </a:xfrm>
        </p:grpSpPr>
        <p:sp>
          <p:nvSpPr>
            <p:cNvPr id="422" name="Google Shape;422;p31"/>
            <p:cNvSpPr/>
            <p:nvPr/>
          </p:nvSpPr>
          <p:spPr>
            <a:xfrm>
              <a:off x="6191250" y="4286250"/>
              <a:ext cx="54294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1"/>
            <p:cNvSpPr txBox="1"/>
            <p:nvPr/>
          </p:nvSpPr>
          <p:spPr>
            <a:xfrm>
              <a:off x="6381750" y="4321302"/>
              <a:ext cx="476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search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24" name="Google Shape;424;p31"/>
            <p:cNvSpPr txBox="1"/>
            <p:nvPr/>
          </p:nvSpPr>
          <p:spPr>
            <a:xfrm>
              <a:off x="6953250" y="4286250"/>
              <a:ext cx="4476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Passo 3</a:t>
              </a:r>
              <a:endParaRPr b="1" sz="11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DML - Consultar filmes de Ficção</a:t>
              </a:r>
              <a:endParaRPr b="1" sz="14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2"/>
          <p:cNvSpPr txBox="1"/>
          <p:nvPr/>
        </p:nvSpPr>
        <p:spPr>
          <a:xfrm>
            <a:off x="571500" y="571500"/>
            <a:ext cx="11049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Ferramentas: </a:t>
            </a:r>
            <a:r>
              <a:rPr b="1" lang="en-US" sz="4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XAMPP</a:t>
            </a:r>
            <a:endParaRPr b="1" sz="44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1" name="Google Shape;431;p32"/>
          <p:cNvSpPr txBox="1"/>
          <p:nvPr/>
        </p:nvSpPr>
        <p:spPr>
          <a:xfrm>
            <a:off x="571500" y="1524000"/>
            <a:ext cx="4762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Ambiente de Desenvolvimento Local</a:t>
            </a:r>
            <a:endParaRPr b="1" sz="1800">
              <a:solidFill>
                <a:srgbClr val="10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2" name="Google Shape;432;p32"/>
          <p:cNvSpPr txBox="1"/>
          <p:nvPr/>
        </p:nvSpPr>
        <p:spPr>
          <a:xfrm>
            <a:off x="571500" y="2000250"/>
            <a:ext cx="47625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O XAMPP é o ambiente PHP mais popular e uma distribuição Apache inteiramente gratuita e fácil de instalar, contendo MariaDB, PHP e Perl.</a:t>
            </a:r>
            <a:endParaRPr b="0" sz="1100">
              <a:solidFill>
                <a:srgbClr val="CBD5E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150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Poppins"/>
              <a:buChar char="●"/>
            </a:pPr>
            <a:r>
              <a:rPr b="0" lang="en-US" sz="11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Servidor Apache + MariaDB (MySQL)</a:t>
            </a:r>
            <a:endParaRPr b="0" sz="1100">
              <a:solidFill>
                <a:srgbClr val="CBD5E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Poppins"/>
              <a:buChar char="●"/>
            </a:pPr>
            <a:r>
              <a:rPr b="0" lang="en-US" sz="11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Interpretador PHP atualizado</a:t>
            </a:r>
            <a:endParaRPr b="0" sz="1100">
              <a:solidFill>
                <a:srgbClr val="CBD5E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Poppins"/>
              <a:buChar char="●"/>
            </a:pPr>
            <a:r>
              <a:rPr b="0" lang="en-US" sz="11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Interface PHPMyAdmin para gestão</a:t>
            </a:r>
            <a:endParaRPr b="0" sz="1100">
              <a:solidFill>
                <a:srgbClr val="CBD5E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33" name="Google Shape;433;p32"/>
          <p:cNvGrpSpPr/>
          <p:nvPr/>
        </p:nvGrpSpPr>
        <p:grpSpPr>
          <a:xfrm>
            <a:off x="571500" y="4191000"/>
            <a:ext cx="4762500" cy="1143000"/>
            <a:chOff x="571500" y="4191000"/>
            <a:chExt cx="4762500" cy="1143000"/>
          </a:xfrm>
        </p:grpSpPr>
        <p:sp>
          <p:nvSpPr>
            <p:cNvPr id="434" name="Google Shape;434;p32"/>
            <p:cNvSpPr/>
            <p:nvPr/>
          </p:nvSpPr>
          <p:spPr>
            <a:xfrm>
              <a:off x="571500" y="4191000"/>
              <a:ext cx="47625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2"/>
            <p:cNvSpPr txBox="1"/>
            <p:nvPr/>
          </p:nvSpPr>
          <p:spPr>
            <a:xfrm>
              <a:off x="857250" y="4191000"/>
              <a:ext cx="41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DOWNLOAD OFICIAL</a:t>
              </a:r>
              <a:endParaRPr b="1" sz="11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apachefriends.org</a:t>
              </a:r>
              <a:endParaRPr b="0" sz="24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pic>
        <p:nvPicPr>
          <p:cNvPr id="436" name="Google Shape;43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0" y="1524000"/>
            <a:ext cx="5715000" cy="332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7" name="Google Shape;437;p32"/>
          <p:cNvGrpSpPr/>
          <p:nvPr/>
        </p:nvGrpSpPr>
        <p:grpSpPr>
          <a:xfrm>
            <a:off x="5905500" y="4953000"/>
            <a:ext cx="5715000" cy="381000"/>
            <a:chOff x="5905500" y="4953000"/>
            <a:chExt cx="5715000" cy="381000"/>
          </a:xfrm>
        </p:grpSpPr>
        <p:sp>
          <p:nvSpPr>
            <p:cNvPr id="438" name="Google Shape;438;p32"/>
            <p:cNvSpPr/>
            <p:nvPr/>
          </p:nvSpPr>
          <p:spPr>
            <a:xfrm>
              <a:off x="5905500" y="4953000"/>
              <a:ext cx="5715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2"/>
            <p:cNvSpPr txBox="1"/>
            <p:nvPr/>
          </p:nvSpPr>
          <p:spPr>
            <a:xfrm>
              <a:off x="5905500" y="4953000"/>
              <a:ext cx="571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94A3B8"/>
                  </a:solidFill>
                  <a:latin typeface="Poppins"/>
                  <a:ea typeface="Poppins"/>
                  <a:cs typeface="Poppins"/>
                  <a:sym typeface="Poppins"/>
                </a:rPr>
                <a:t>Painel de Controle XAMPP - Configuração Padrão</a:t>
              </a:r>
              <a:endParaRPr b="0" sz="10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3"/>
          <p:cNvSpPr txBox="1"/>
          <p:nvPr/>
        </p:nvSpPr>
        <p:spPr>
          <a:xfrm>
            <a:off x="571500" y="571500"/>
            <a:ext cx="11049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Material de </a:t>
            </a:r>
            <a:r>
              <a:rPr b="1" lang="en-US" sz="4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Aula</a:t>
            </a:r>
            <a:endParaRPr b="1" sz="44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47" name="Google Shape;447;p33"/>
          <p:cNvGrpSpPr/>
          <p:nvPr/>
        </p:nvGrpSpPr>
        <p:grpSpPr>
          <a:xfrm>
            <a:off x="571500" y="1619250"/>
            <a:ext cx="5715000" cy="1619250"/>
            <a:chOff x="571500" y="1619250"/>
            <a:chExt cx="5715000" cy="1619250"/>
          </a:xfrm>
        </p:grpSpPr>
        <p:sp>
          <p:nvSpPr>
            <p:cNvPr id="448" name="Google Shape;448;p33"/>
            <p:cNvSpPr txBox="1"/>
            <p:nvPr/>
          </p:nvSpPr>
          <p:spPr>
            <a:xfrm>
              <a:off x="571500" y="1619250"/>
              <a:ext cx="5715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Repositório GitHub</a:t>
              </a:r>
              <a:endParaRPr b="1" sz="18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49" name="Google Shape;449;p33"/>
            <p:cNvSpPr txBox="1"/>
            <p:nvPr/>
          </p:nvSpPr>
          <p:spPr>
            <a:xfrm>
              <a:off x="571500" y="2095500"/>
              <a:ext cx="5715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Todo o conteúdo prático, scripts SQL e exemplos utilizados em aula estão disponíveis para consulta e download no GitHub oficial do curso.</a:t>
              </a:r>
              <a:endParaRPr b="0" sz="14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0" name="Google Shape;450;p33"/>
          <p:cNvGrpSpPr/>
          <p:nvPr/>
        </p:nvGrpSpPr>
        <p:grpSpPr>
          <a:xfrm>
            <a:off x="571500" y="3619500"/>
            <a:ext cx="5715000" cy="1143000"/>
            <a:chOff x="571500" y="3619500"/>
            <a:chExt cx="5715000" cy="1143000"/>
          </a:xfrm>
        </p:grpSpPr>
        <p:sp>
          <p:nvSpPr>
            <p:cNvPr id="451" name="Google Shape;451;p33"/>
            <p:cNvSpPr/>
            <p:nvPr/>
          </p:nvSpPr>
          <p:spPr>
            <a:xfrm>
              <a:off x="571500" y="3619500"/>
              <a:ext cx="57150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3"/>
            <p:cNvSpPr txBox="1"/>
            <p:nvPr/>
          </p:nvSpPr>
          <p:spPr>
            <a:xfrm>
              <a:off x="857250" y="3619500"/>
              <a:ext cx="51435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35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ACESSO AO MATERIAL</a:t>
              </a:r>
              <a:endParaRPr b="1" sz="935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github.com/dansaraiva/aula-concurso-ifce</a:t>
              </a:r>
              <a:endParaRPr b="1" sz="935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453" name="Google Shape;453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4250" y="1124425"/>
            <a:ext cx="3619499" cy="361949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3"/>
          <p:cNvSpPr/>
          <p:nvPr/>
        </p:nvSpPr>
        <p:spPr>
          <a:xfrm>
            <a:off x="6762750" y="1123950"/>
            <a:ext cx="4762500" cy="4095900"/>
          </a:xfrm>
          <a:prstGeom prst="roundRect">
            <a:avLst>
              <a:gd fmla="val 465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5" name="Google Shape;45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4250" y="1362075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3"/>
          <p:cNvSpPr txBox="1"/>
          <p:nvPr/>
        </p:nvSpPr>
        <p:spPr>
          <a:xfrm>
            <a:off x="6762750" y="5334000"/>
            <a:ext cx="476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Escaneie o código ou acesse o link para baixar os arquivos.</a:t>
            </a:r>
            <a:endParaRPr b="0" sz="1000">
              <a:solidFill>
                <a:srgbClr val="CBD5E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4"/>
          <p:cNvSpPr txBox="1"/>
          <p:nvPr/>
        </p:nvSpPr>
        <p:spPr>
          <a:xfrm>
            <a:off x="571500" y="571500"/>
            <a:ext cx="11049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Referências </a:t>
            </a:r>
            <a:r>
              <a:rPr b="1" lang="en-US" sz="4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Bibliográficas</a:t>
            </a:r>
            <a:endParaRPr b="1" sz="44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2" name="Google Shape;462;p34"/>
          <p:cNvPicPr preferRelativeResize="0"/>
          <p:nvPr/>
        </p:nvPicPr>
        <p:blipFill rotWithShape="1">
          <a:blip r:embed="rId4">
            <a:alphaModFix/>
          </a:blip>
          <a:srcRect b="2089" l="0" r="0" t="2080"/>
          <a:stretch/>
        </p:blipFill>
        <p:spPr>
          <a:xfrm>
            <a:off x="571500" y="1714500"/>
            <a:ext cx="4572000" cy="4381500"/>
          </a:xfrm>
          <a:prstGeom prst="roundRect">
            <a:avLst>
              <a:gd fmla="val 4347" name="adj"/>
            </a:avLst>
          </a:prstGeom>
          <a:noFill/>
          <a:ln>
            <a:noFill/>
          </a:ln>
        </p:spPr>
      </p:pic>
      <p:grpSp>
        <p:nvGrpSpPr>
          <p:cNvPr id="463" name="Google Shape;463;p34"/>
          <p:cNvGrpSpPr/>
          <p:nvPr/>
        </p:nvGrpSpPr>
        <p:grpSpPr>
          <a:xfrm>
            <a:off x="5524500" y="2095500"/>
            <a:ext cx="6096000" cy="1238400"/>
            <a:chOff x="5524500" y="2095500"/>
            <a:chExt cx="6096000" cy="1238400"/>
          </a:xfrm>
        </p:grpSpPr>
        <p:sp>
          <p:nvSpPr>
            <p:cNvPr id="464" name="Google Shape;464;p34"/>
            <p:cNvSpPr/>
            <p:nvPr/>
          </p:nvSpPr>
          <p:spPr>
            <a:xfrm>
              <a:off x="5524500" y="2095500"/>
              <a:ext cx="6096000" cy="1238400"/>
            </a:xfrm>
            <a:prstGeom prst="roundRect">
              <a:avLst>
                <a:gd fmla="val 923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4"/>
            <p:cNvSpPr txBox="1"/>
            <p:nvPr/>
          </p:nvSpPr>
          <p:spPr>
            <a:xfrm>
              <a:off x="5715000" y="2095500"/>
              <a:ext cx="5715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 b="1" sz="13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ELMASRI, </a:t>
              </a:r>
              <a:r>
                <a:rPr b="0" lang="en-US" sz="13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Ramez;</a:t>
              </a:r>
              <a:r>
                <a:rPr b="0" lang="en-US" sz="1300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NAVATHE, </a:t>
              </a:r>
              <a:r>
                <a:rPr b="0" lang="en-US" sz="13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Shamkant B.</a:t>
              </a:r>
              <a:endParaRPr b="0" sz="13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3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Sistemas de Banco de Dados. </a:t>
              </a:r>
              <a:r>
                <a:rPr b="0" i="0" lang="en-US" sz="13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7. ed. São Paulo: Pearson, 2018.</a:t>
              </a:r>
              <a:endParaRPr b="0" i="1" sz="13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6" name="Google Shape;466;p34"/>
          <p:cNvGrpSpPr/>
          <p:nvPr/>
        </p:nvGrpSpPr>
        <p:grpSpPr>
          <a:xfrm>
            <a:off x="5524500" y="3524250"/>
            <a:ext cx="6096000" cy="1238400"/>
            <a:chOff x="5524500" y="3524250"/>
            <a:chExt cx="6096000" cy="1238400"/>
          </a:xfrm>
        </p:grpSpPr>
        <p:sp>
          <p:nvSpPr>
            <p:cNvPr id="467" name="Google Shape;467;p34"/>
            <p:cNvSpPr/>
            <p:nvPr/>
          </p:nvSpPr>
          <p:spPr>
            <a:xfrm>
              <a:off x="5524500" y="3524250"/>
              <a:ext cx="6096000" cy="1238400"/>
            </a:xfrm>
            <a:prstGeom prst="roundRect">
              <a:avLst>
                <a:gd fmla="val 923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4"/>
            <p:cNvSpPr txBox="1"/>
            <p:nvPr/>
          </p:nvSpPr>
          <p:spPr>
            <a:xfrm>
              <a:off x="5715000" y="3524250"/>
              <a:ext cx="5715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 b="1" sz="13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SILBERSCHATZ, </a:t>
              </a:r>
              <a:r>
                <a:rPr b="0" lang="en-US" sz="13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Abraham;</a:t>
              </a:r>
              <a:r>
                <a:rPr b="0" lang="en-US" sz="1300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KORTH, </a:t>
              </a:r>
              <a:r>
                <a:rPr b="0" lang="en-US" sz="13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Henry F.;</a:t>
              </a:r>
              <a:r>
                <a:rPr b="0" lang="en-US" sz="1300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SUDARSHAN, </a:t>
              </a:r>
              <a:r>
                <a:rPr b="0" lang="en-US" sz="13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S.</a:t>
              </a:r>
              <a:endParaRPr b="0" sz="13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3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Sistema de Bancos de Dados. </a:t>
              </a:r>
              <a:r>
                <a:rPr b="0" i="0" lang="en-US" sz="1300">
                  <a:solidFill>
                    <a:srgbClr val="CBD5E1"/>
                  </a:solidFill>
                  <a:latin typeface="Poppins"/>
                  <a:ea typeface="Poppins"/>
                  <a:cs typeface="Poppins"/>
                  <a:sym typeface="Poppins"/>
                </a:rPr>
                <a:t>7. ed. Rio de Janeiro: Elsevier, 2020.</a:t>
              </a:r>
              <a:endParaRPr b="0" i="1" sz="13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3" name="Google Shape;47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4" name="Google Shape;47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1766887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5"/>
          <p:cNvSpPr txBox="1"/>
          <p:nvPr/>
        </p:nvSpPr>
        <p:spPr>
          <a:xfrm>
            <a:off x="3150631" y="2814637"/>
            <a:ext cx="5890736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Dúvidas?</a:t>
            </a:r>
            <a:endParaRPr/>
          </a:p>
        </p:txBody>
      </p:sp>
      <p:sp>
        <p:nvSpPr>
          <p:cNvPr id="476" name="Google Shape;476;p35"/>
          <p:cNvSpPr txBox="1"/>
          <p:nvPr/>
        </p:nvSpPr>
        <p:spPr>
          <a:xfrm>
            <a:off x="3290887" y="3910012"/>
            <a:ext cx="5610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Muito obrigado pela atenção e excelente prática a todos!</a:t>
            </a:r>
            <a:endParaRPr/>
          </a:p>
        </p:txBody>
      </p:sp>
      <p:sp>
        <p:nvSpPr>
          <p:cNvPr id="477" name="Google Shape;477;p35"/>
          <p:cNvSpPr txBox="1"/>
          <p:nvPr/>
        </p:nvSpPr>
        <p:spPr>
          <a:xfrm>
            <a:off x="3290887" y="4595812"/>
            <a:ext cx="561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Daniel Saraiva</a:t>
            </a:r>
            <a:endParaRPr sz="1500">
              <a:solidFill>
                <a:srgbClr val="10B98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danielsaraiva.ti@gmail.com</a:t>
            </a:r>
            <a:endParaRPr sz="1500">
              <a:solidFill>
                <a:srgbClr val="10B98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